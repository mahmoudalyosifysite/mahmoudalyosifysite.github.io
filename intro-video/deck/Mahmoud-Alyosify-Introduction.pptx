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film · 90 seconds" id="{5ad66253-ac6b-f432-5415-6c16d64e459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Website cut · 30 seconds" id="{f4f5e6da-bf18-0080-0c30-b74de3e5177c}">
          <p14:sldIdLst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The Mark
Film 0–6 s. A hairline draws, then the emblem resolves out of the dark.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Mahmoud Alyosify
Film 6–12 s. The portrait emerges, the rim light finds him, the name writes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Origins
Film 12–15 s. Egypt and the Nile draw in gold; a node marks Assiut.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Childhood
Film 14.25–18 s. Three framed photos: as a toddler, at nursery school, on horseback among the palms. No age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Assiut University
Film 18–21 s. The class of 2023 in front of the Faculty of Computers and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The university years
Film 21–24 s. At FCI, a studio portrait, and the Nile trip in Luxor (2020).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He learned to lead
Film 24–30 s. Student Union, Smart Cities Hackathon, Ideal Student, Vitalism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Graduated
Film 30–36 s. July 2023, GPA 3.53 / 4.00, graduation project graded A+.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· Service
Film 36–42 s. Military service as a systems engineer, 2024–2025.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· Einstein Misr
Film 42–45 s. Teaching since 2020 on his channel, Einstein Misr.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· 10,000+ learners
Film 45–48 s. 10,000+ learners and 700K+ YouTube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· From trainee to instructor
Film 48–51 s. Trained at NTI (photo at Microsoft, Smart Village), later its machine-learning instructor.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· He builds
Film 51–54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· Intelligent systems
Film 54–60 s. A network whose outputs are his projects. A hard cut follows, on the climax downbeat.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· From Egypt to Canada
Film 60–66 s. September 2025: the arc from Assiut to Kingston, Ontario.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· Queen’s University
Film 66–69 s. MSc in Artificial Intelligence, Digilians Presidential Scholarship.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· MinimalLM
Film 69–72 s. His MSc research project, at the School of Computing.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· Say less
Film 72–75.3 s. An illustrative answer stops early at a STOP gate; the redundant tail falls away. Not a reported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· Enable the future
Film 75.3–78 s. Antoine de Saint-Exupéry, Citadelle. The place of the photo is never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· He learns. He builds. He teaches.
Film 78–81 s. In traditional dress under gold lights; the photo gives way to the portrait in the same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· A purpose
Film 81–84 s. The portrait returns, exactly where it first appeared.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· Mahmoud Alyosify
Film 84–90 s. The end card; the signature writes itself behind 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W1 · The Mark
Website cut 0–6 s (also the scroll prologue on the site).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W2 · Mahmoud Alyosify
Website cut 6–12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W3 · He learns. He builds. He teaches.
Website cut 12–18 s. Centred on black, slower than in the film.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W4 · A purpose
Website cut 18–21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W5 · Mahmoud Alyosify
Website cut 21–30 s. The end card, slower, without the mascot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ILM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LM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2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4.pn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5-2.png"/><Relationship Id="rId3" Type="http://schemas.openxmlformats.org/officeDocument/2006/relationships/image" Target="../media/image-17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3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7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1-1.png"/><Relationship Id="rId5" Type="http://schemas.openxmlformats.org/officeDocument/2006/relationships/image" Target="../media/image-2-3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7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1-1.png"/><Relationship Id="rId5" Type="http://schemas.openxmlformats.org/officeDocument/2006/relationships/image" Target="../media/image-2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-hair"/>
          <p:cNvSpPr/>
          <p:nvPr/>
        </p:nvSpPr>
        <p:spPr>
          <a:xfrm>
            <a:off x="4762470" y="4826020"/>
            <a:ext cx="2667030" cy="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solid"/>
          </a:ln>
        </p:spPr>
      </p:sp>
      <p:pic>
        <p:nvPicPr>
          <p:cNvPr id="4" name="s1-emblem" descr="D:\Projects Until 2024\my website\v2\MahmoudAlyosifySite.github.io\intro-video\deck\assets\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470" y="2108241"/>
            <a:ext cx="2667030" cy="2387590"/>
          </a:xfrm>
          <a:prstGeom prst="rect">
            <a:avLst/>
          </a:prstGeom>
        </p:spPr>
      </p:pic>
    </p:spTree>
  </p:cSld>
  <p:clrMapOvr>
    <a:masterClrMapping/>
  </p:clrMapOvr>
  <p:transition spd="slow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2-backglow" descr="D:\Projects Until 2024\my website\v2\MahmoudAlyosifySite.github.io\intro-video\deck\assets\back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970" y="0"/>
            <a:ext cx="7112020" cy="7112020"/>
          </a:xfrm>
          <a:prstGeom prst="rect">
            <a:avLst/>
          </a:prstGeom>
        </p:spPr>
      </p:pic>
      <p:pic>
        <p:nvPicPr>
          <p:cNvPr id="4" name="s2-portrait" descr="D:\Projects Until 2024\my website\v2\MahmoudAlyosifySite.github.io\intro-video\deck\assets\portrait-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824" y="-399136"/>
            <a:ext cx="8164312" cy="8164312"/>
          </a:xfrm>
          <a:prstGeom prst="rect">
            <a:avLst/>
          </a:prstGeom>
        </p:spPr>
      </p:pic>
      <p:pic>
        <p:nvPicPr>
          <p:cNvPr id="5" name="s2-wordmark" descr="D:\Projects Until 2024\my website\v2\MahmoudAlyosifySite.github.io\intro-video\deck\assets\wor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0" y="2540020"/>
            <a:ext cx="4190970" cy="976488"/>
          </a:xfrm>
          <a:prstGeom prst="rect">
            <a:avLst/>
          </a:prstGeom>
        </p:spPr>
      </p:pic>
      <p:sp>
        <p:nvSpPr>
          <p:cNvPr id="6" name="s2-roles"/>
          <p:cNvSpPr txBox="1"/>
          <p:nvPr/>
        </p:nvSpPr>
        <p:spPr>
          <a:xfrm>
            <a:off x="1015990" y="379732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AI ENGINEER · RESEARCHER · EDUCATOR</a:t>
            </a:r>
            <a:endParaRPr lang="en-US" sz="1100" dirty="0"/>
          </a:p>
        </p:txBody>
      </p:sp>
      <p:sp>
        <p:nvSpPr>
          <p:cNvPr id="7" name="s2-rule"/>
          <p:cNvSpPr/>
          <p:nvPr/>
        </p:nvSpPr>
        <p:spPr>
          <a:xfrm>
            <a:off x="1015990" y="4063959"/>
            <a:ext cx="152403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8" name="s2-alias"/>
          <p:cNvSpPr txBox="1"/>
          <p:nvPr/>
        </p:nvSpPr>
        <p:spPr>
          <a:xfrm>
            <a:off x="1015990" y="4190970"/>
            <a:ext cx="57150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3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also known as Mahmoud Sayed Youssef</a:t>
            </a:r>
            <a:endParaRPr lang="en-US" sz="1500" dirty="0"/>
          </a:p>
        </p:txBody>
      </p:sp>
    </p:spTree>
  </p:cSld>
  <p:clrMapOvr>
    <a:masterClrMapping/>
  </p:clrMapOvr>
  <p:transition spd="slow" advTm="6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3-egypt"/>
          <p:cNvSpPr/>
          <p:nvPr/>
        </p:nvSpPr>
        <p:spPr>
          <a:xfrm>
            <a:off x="6404000" y="1603400"/>
            <a:ext cx="4326849" cy="3425160"/>
          </a:xfrm>
          <a:custGeom>
            <a:avLst/>
            <a:gdLst/>
            <a:ahLst/>
            <a:cxnLst/>
            <a:rect l="l" t="t" r="r" b="b"/>
            <a:pathLst>
              <a:path w="4326849" h="3425160">
                <a:moveTo>
                  <a:pt x="4326849" y="3423879"/>
                </a:moveTo>
                <a:lnTo>
                  <a:pt x="4210721" y="3424519"/>
                </a:lnTo>
                <a:lnTo>
                  <a:pt x="4093860" y="3424519"/>
                </a:lnTo>
                <a:lnTo>
                  <a:pt x="3977640" y="3424519"/>
                </a:lnTo>
                <a:lnTo>
                  <a:pt x="3860780" y="3424519"/>
                </a:lnTo>
                <a:lnTo>
                  <a:pt x="3744559" y="3424519"/>
                </a:lnTo>
                <a:lnTo>
                  <a:pt x="3627791" y="3424519"/>
                </a:lnTo>
                <a:lnTo>
                  <a:pt x="3510290" y="3424519"/>
                </a:lnTo>
                <a:lnTo>
                  <a:pt x="3393430" y="3424519"/>
                </a:lnTo>
                <a:lnTo>
                  <a:pt x="3277210" y="3424519"/>
                </a:lnTo>
                <a:lnTo>
                  <a:pt x="3160441" y="3424519"/>
                </a:lnTo>
                <a:lnTo>
                  <a:pt x="3044220" y="3424519"/>
                </a:lnTo>
                <a:lnTo>
                  <a:pt x="2928000" y="3424519"/>
                </a:lnTo>
                <a:lnTo>
                  <a:pt x="2811140" y="3424519"/>
                </a:lnTo>
                <a:lnTo>
                  <a:pt x="2693640" y="3424519"/>
                </a:lnTo>
                <a:lnTo>
                  <a:pt x="2576871" y="3424519"/>
                </a:lnTo>
                <a:lnTo>
                  <a:pt x="2460650" y="3424519"/>
                </a:lnTo>
                <a:lnTo>
                  <a:pt x="2393991" y="3424519"/>
                </a:lnTo>
                <a:lnTo>
                  <a:pt x="2405421" y="3393430"/>
                </a:lnTo>
                <a:lnTo>
                  <a:pt x="2413010" y="3370570"/>
                </a:lnTo>
                <a:lnTo>
                  <a:pt x="2382561" y="3351550"/>
                </a:lnTo>
                <a:lnTo>
                  <a:pt x="2332360" y="3422051"/>
                </a:lnTo>
                <a:lnTo>
                  <a:pt x="2272010" y="3425160"/>
                </a:lnTo>
                <a:lnTo>
                  <a:pt x="2136770" y="3425160"/>
                </a:lnTo>
                <a:lnTo>
                  <a:pt x="2000890" y="3424519"/>
                </a:lnTo>
                <a:lnTo>
                  <a:pt x="1865010" y="3424519"/>
                </a:lnTo>
                <a:lnTo>
                  <a:pt x="1729770" y="3424519"/>
                </a:lnTo>
                <a:lnTo>
                  <a:pt x="1593891" y="3424519"/>
                </a:lnTo>
                <a:lnTo>
                  <a:pt x="1457919" y="3424519"/>
                </a:lnTo>
                <a:lnTo>
                  <a:pt x="1320759" y="3424519"/>
                </a:lnTo>
                <a:lnTo>
                  <a:pt x="1185520" y="3424519"/>
                </a:lnTo>
                <a:lnTo>
                  <a:pt x="1049640" y="3424519"/>
                </a:lnTo>
                <a:lnTo>
                  <a:pt x="913760" y="3424519"/>
                </a:lnTo>
                <a:lnTo>
                  <a:pt x="778520" y="3424519"/>
                </a:lnTo>
                <a:lnTo>
                  <a:pt x="642640" y="3424519"/>
                </a:lnTo>
                <a:lnTo>
                  <a:pt x="506760" y="3424519"/>
                </a:lnTo>
                <a:lnTo>
                  <a:pt x="371521" y="3424519"/>
                </a:lnTo>
                <a:lnTo>
                  <a:pt x="235549" y="3424519"/>
                </a:lnTo>
                <a:lnTo>
                  <a:pt x="98389" y="3424519"/>
                </a:lnTo>
                <a:lnTo>
                  <a:pt x="98389" y="3345150"/>
                </a:lnTo>
                <a:lnTo>
                  <a:pt x="98389" y="3265140"/>
                </a:lnTo>
                <a:lnTo>
                  <a:pt x="98389" y="3185130"/>
                </a:lnTo>
                <a:lnTo>
                  <a:pt x="98389" y="3105760"/>
                </a:lnTo>
                <a:lnTo>
                  <a:pt x="98389" y="3025110"/>
                </a:lnTo>
                <a:lnTo>
                  <a:pt x="98389" y="2945740"/>
                </a:lnTo>
                <a:lnTo>
                  <a:pt x="98389" y="2865730"/>
                </a:lnTo>
                <a:lnTo>
                  <a:pt x="98389" y="2785720"/>
                </a:lnTo>
                <a:lnTo>
                  <a:pt x="98389" y="2706350"/>
                </a:lnTo>
                <a:lnTo>
                  <a:pt x="98389" y="2625700"/>
                </a:lnTo>
                <a:lnTo>
                  <a:pt x="98389" y="2546330"/>
                </a:lnTo>
                <a:lnTo>
                  <a:pt x="98389" y="2466960"/>
                </a:lnTo>
                <a:lnTo>
                  <a:pt x="98389" y="2386310"/>
                </a:lnTo>
                <a:lnTo>
                  <a:pt x="98389" y="2306940"/>
                </a:lnTo>
                <a:lnTo>
                  <a:pt x="98389" y="2226930"/>
                </a:lnTo>
                <a:lnTo>
                  <a:pt x="98389" y="2146920"/>
                </a:lnTo>
                <a:lnTo>
                  <a:pt x="98389" y="2067550"/>
                </a:lnTo>
                <a:lnTo>
                  <a:pt x="98389" y="1987540"/>
                </a:lnTo>
                <a:lnTo>
                  <a:pt x="98389" y="1907530"/>
                </a:lnTo>
                <a:lnTo>
                  <a:pt x="98389" y="1827520"/>
                </a:lnTo>
                <a:lnTo>
                  <a:pt x="98389" y="1747510"/>
                </a:lnTo>
                <a:lnTo>
                  <a:pt x="98389" y="1668140"/>
                </a:lnTo>
                <a:lnTo>
                  <a:pt x="98389" y="1588130"/>
                </a:lnTo>
                <a:lnTo>
                  <a:pt x="98389" y="1508120"/>
                </a:lnTo>
                <a:lnTo>
                  <a:pt x="98389" y="1428110"/>
                </a:lnTo>
                <a:lnTo>
                  <a:pt x="98389" y="1348740"/>
                </a:lnTo>
                <a:lnTo>
                  <a:pt x="98389" y="1268730"/>
                </a:lnTo>
                <a:lnTo>
                  <a:pt x="98389" y="1188720"/>
                </a:lnTo>
                <a:lnTo>
                  <a:pt x="98389" y="1109350"/>
                </a:lnTo>
                <a:lnTo>
                  <a:pt x="98389" y="1028700"/>
                </a:lnTo>
                <a:lnTo>
                  <a:pt x="98389" y="949330"/>
                </a:lnTo>
                <a:lnTo>
                  <a:pt x="98389" y="869960"/>
                </a:lnTo>
                <a:lnTo>
                  <a:pt x="76810" y="800740"/>
                </a:lnTo>
                <a:lnTo>
                  <a:pt x="59070" y="731520"/>
                </a:lnTo>
                <a:lnTo>
                  <a:pt x="38130" y="646389"/>
                </a:lnTo>
                <a:lnTo>
                  <a:pt x="35570" y="619140"/>
                </a:lnTo>
                <a:lnTo>
                  <a:pt x="3840" y="532089"/>
                </a:lnTo>
                <a:lnTo>
                  <a:pt x="0" y="506760"/>
                </a:lnTo>
                <a:lnTo>
                  <a:pt x="8870" y="489570"/>
                </a:lnTo>
                <a:lnTo>
                  <a:pt x="62819" y="415961"/>
                </a:lnTo>
                <a:lnTo>
                  <a:pt x="78090" y="380390"/>
                </a:lnTo>
                <a:lnTo>
                  <a:pt x="92080" y="337231"/>
                </a:lnTo>
                <a:lnTo>
                  <a:pt x="97109" y="302301"/>
                </a:lnTo>
                <a:lnTo>
                  <a:pt x="80650" y="249540"/>
                </a:lnTo>
                <a:lnTo>
                  <a:pt x="62819" y="201259"/>
                </a:lnTo>
                <a:lnTo>
                  <a:pt x="56510" y="152430"/>
                </a:lnTo>
                <a:lnTo>
                  <a:pt x="53950" y="103510"/>
                </a:lnTo>
                <a:lnTo>
                  <a:pt x="80650" y="71140"/>
                </a:lnTo>
                <a:lnTo>
                  <a:pt x="113660" y="40051"/>
                </a:lnTo>
                <a:lnTo>
                  <a:pt x="127010" y="21580"/>
                </a:lnTo>
                <a:lnTo>
                  <a:pt x="146030" y="0"/>
                </a:lnTo>
                <a:lnTo>
                  <a:pt x="186720" y="33010"/>
                </a:lnTo>
                <a:lnTo>
                  <a:pt x="241950" y="40599"/>
                </a:lnTo>
                <a:lnTo>
                  <a:pt x="423550" y="2560"/>
                </a:lnTo>
                <a:lnTo>
                  <a:pt x="624810" y="40599"/>
                </a:lnTo>
                <a:lnTo>
                  <a:pt x="734720" y="55230"/>
                </a:lnTo>
                <a:lnTo>
                  <a:pt x="904890" y="88880"/>
                </a:lnTo>
                <a:lnTo>
                  <a:pt x="1009040" y="147310"/>
                </a:lnTo>
                <a:lnTo>
                  <a:pt x="1038210" y="154899"/>
                </a:lnTo>
                <a:lnTo>
                  <a:pt x="1112550" y="153711"/>
                </a:lnTo>
                <a:lnTo>
                  <a:pt x="1160739" y="188001"/>
                </a:lnTo>
                <a:lnTo>
                  <a:pt x="1355689" y="205100"/>
                </a:lnTo>
                <a:lnTo>
                  <a:pt x="1459200" y="243230"/>
                </a:lnTo>
                <a:lnTo>
                  <a:pt x="1518270" y="273680"/>
                </a:lnTo>
                <a:lnTo>
                  <a:pt x="1553840" y="283190"/>
                </a:lnTo>
                <a:lnTo>
                  <a:pt x="1584930" y="281910"/>
                </a:lnTo>
                <a:lnTo>
                  <a:pt x="1626900" y="270480"/>
                </a:lnTo>
                <a:lnTo>
                  <a:pt x="1680850" y="248900"/>
                </a:lnTo>
                <a:lnTo>
                  <a:pt x="1738640" y="219090"/>
                </a:lnTo>
                <a:lnTo>
                  <a:pt x="1858609" y="141641"/>
                </a:lnTo>
                <a:lnTo>
                  <a:pt x="1901220" y="128290"/>
                </a:lnTo>
                <a:lnTo>
                  <a:pt x="1929110" y="132039"/>
                </a:lnTo>
                <a:lnTo>
                  <a:pt x="1963400" y="130851"/>
                </a:lnTo>
                <a:lnTo>
                  <a:pt x="1978030" y="110460"/>
                </a:lnTo>
                <a:lnTo>
                  <a:pt x="1995769" y="95921"/>
                </a:lnTo>
                <a:lnTo>
                  <a:pt x="2006011" y="79370"/>
                </a:lnTo>
                <a:lnTo>
                  <a:pt x="2025030" y="60350"/>
                </a:lnTo>
                <a:lnTo>
                  <a:pt x="2086569" y="54590"/>
                </a:lnTo>
                <a:lnTo>
                  <a:pt x="2212299" y="21580"/>
                </a:lnTo>
                <a:lnTo>
                  <a:pt x="2197760" y="36850"/>
                </a:lnTo>
                <a:lnTo>
                  <a:pt x="2084100" y="74249"/>
                </a:lnTo>
                <a:lnTo>
                  <a:pt x="2132929" y="79370"/>
                </a:lnTo>
                <a:lnTo>
                  <a:pt x="2182490" y="66660"/>
                </a:lnTo>
                <a:lnTo>
                  <a:pt x="2240280" y="58430"/>
                </a:lnTo>
                <a:lnTo>
                  <a:pt x="2258019" y="12070"/>
                </a:lnTo>
                <a:lnTo>
                  <a:pt x="2308220" y="13990"/>
                </a:lnTo>
                <a:lnTo>
                  <a:pt x="2425720" y="59710"/>
                </a:lnTo>
                <a:lnTo>
                  <a:pt x="2455530" y="60990"/>
                </a:lnTo>
                <a:lnTo>
                  <a:pt x="2538740" y="35570"/>
                </a:lnTo>
                <a:lnTo>
                  <a:pt x="2581900" y="44440"/>
                </a:lnTo>
                <a:lnTo>
                  <a:pt x="2643530" y="101590"/>
                </a:lnTo>
                <a:lnTo>
                  <a:pt x="2621951" y="100310"/>
                </a:lnTo>
                <a:lnTo>
                  <a:pt x="2556480" y="50841"/>
                </a:lnTo>
                <a:lnTo>
                  <a:pt x="2551450" y="75529"/>
                </a:lnTo>
                <a:lnTo>
                  <a:pt x="2513960" y="118781"/>
                </a:lnTo>
                <a:lnTo>
                  <a:pt x="2560320" y="137800"/>
                </a:lnTo>
                <a:lnTo>
                  <a:pt x="2598450" y="144109"/>
                </a:lnTo>
                <a:lnTo>
                  <a:pt x="2619390" y="168250"/>
                </a:lnTo>
                <a:lnTo>
                  <a:pt x="2632100" y="189829"/>
                </a:lnTo>
                <a:lnTo>
                  <a:pt x="2668859" y="180960"/>
                </a:lnTo>
                <a:lnTo>
                  <a:pt x="2696200" y="151790"/>
                </a:lnTo>
                <a:lnTo>
                  <a:pt x="2681569" y="135240"/>
                </a:lnTo>
                <a:lnTo>
                  <a:pt x="2671420" y="118140"/>
                </a:lnTo>
                <a:lnTo>
                  <a:pt x="2710190" y="132039"/>
                </a:lnTo>
                <a:lnTo>
                  <a:pt x="2784439" y="186720"/>
                </a:lnTo>
                <a:lnTo>
                  <a:pt x="2809860" y="198791"/>
                </a:lnTo>
                <a:lnTo>
                  <a:pt x="2837840" y="196870"/>
                </a:lnTo>
                <a:lnTo>
                  <a:pt x="2899380" y="180960"/>
                </a:lnTo>
                <a:lnTo>
                  <a:pt x="2996580" y="162580"/>
                </a:lnTo>
                <a:lnTo>
                  <a:pt x="3007370" y="178399"/>
                </a:lnTo>
                <a:lnTo>
                  <a:pt x="3020080" y="193030"/>
                </a:lnTo>
                <a:lnTo>
                  <a:pt x="3085460" y="176571"/>
                </a:lnTo>
                <a:lnTo>
                  <a:pt x="3187690" y="176571"/>
                </a:lnTo>
                <a:lnTo>
                  <a:pt x="3272180" y="158740"/>
                </a:lnTo>
                <a:lnTo>
                  <a:pt x="3369290" y="114940"/>
                </a:lnTo>
                <a:lnTo>
                  <a:pt x="3393430" y="148590"/>
                </a:lnTo>
                <a:lnTo>
                  <a:pt x="3423239" y="224760"/>
                </a:lnTo>
                <a:lnTo>
                  <a:pt x="3448660" y="283830"/>
                </a:lnTo>
                <a:lnTo>
                  <a:pt x="3480389" y="366400"/>
                </a:lnTo>
                <a:lnTo>
                  <a:pt x="3491271" y="398130"/>
                </a:lnTo>
                <a:lnTo>
                  <a:pt x="3495020" y="419710"/>
                </a:lnTo>
                <a:lnTo>
                  <a:pt x="3540740" y="510510"/>
                </a:lnTo>
                <a:lnTo>
                  <a:pt x="3568080" y="584850"/>
                </a:lnTo>
                <a:lnTo>
                  <a:pt x="3588380" y="645749"/>
                </a:lnTo>
                <a:lnTo>
                  <a:pt x="3615080" y="733440"/>
                </a:lnTo>
                <a:lnTo>
                  <a:pt x="3627791" y="763890"/>
                </a:lnTo>
                <a:lnTo>
                  <a:pt x="3608680" y="780440"/>
                </a:lnTo>
                <a:lnTo>
                  <a:pt x="3568080" y="837590"/>
                </a:lnTo>
                <a:lnTo>
                  <a:pt x="3525561" y="1020470"/>
                </a:lnTo>
                <a:lnTo>
                  <a:pt x="3465210" y="1162660"/>
                </a:lnTo>
                <a:lnTo>
                  <a:pt x="3458809" y="1251631"/>
                </a:lnTo>
                <a:lnTo>
                  <a:pt x="3448660" y="1284000"/>
                </a:lnTo>
                <a:lnTo>
                  <a:pt x="3419490" y="1329080"/>
                </a:lnTo>
                <a:lnTo>
                  <a:pt x="3384560" y="1373520"/>
                </a:lnTo>
                <a:lnTo>
                  <a:pt x="3321649" y="1350660"/>
                </a:lnTo>
                <a:lnTo>
                  <a:pt x="3220700" y="1272570"/>
                </a:lnTo>
                <a:lnTo>
                  <a:pt x="3161629" y="1198870"/>
                </a:lnTo>
                <a:lnTo>
                  <a:pt x="3099450" y="1151230"/>
                </a:lnTo>
                <a:lnTo>
                  <a:pt x="3039100" y="1087770"/>
                </a:lnTo>
                <a:lnTo>
                  <a:pt x="3022641" y="1042690"/>
                </a:lnTo>
                <a:lnTo>
                  <a:pt x="3023829" y="1012789"/>
                </a:lnTo>
                <a:lnTo>
                  <a:pt x="2996580" y="941741"/>
                </a:lnTo>
                <a:lnTo>
                  <a:pt x="2977561" y="908091"/>
                </a:lnTo>
                <a:lnTo>
                  <a:pt x="2904500" y="831830"/>
                </a:lnTo>
                <a:lnTo>
                  <a:pt x="2884200" y="791870"/>
                </a:lnTo>
                <a:lnTo>
                  <a:pt x="2867650" y="774040"/>
                </a:lnTo>
                <a:lnTo>
                  <a:pt x="2852379" y="748619"/>
                </a:lnTo>
                <a:lnTo>
                  <a:pt x="2825130" y="649590"/>
                </a:lnTo>
                <a:lnTo>
                  <a:pt x="2795869" y="587411"/>
                </a:lnTo>
                <a:lnTo>
                  <a:pt x="2764140" y="605150"/>
                </a:lnTo>
                <a:lnTo>
                  <a:pt x="2769260" y="631210"/>
                </a:lnTo>
                <a:lnTo>
                  <a:pt x="2740640" y="668061"/>
                </a:lnTo>
                <a:lnTo>
                  <a:pt x="2722900" y="709940"/>
                </a:lnTo>
                <a:lnTo>
                  <a:pt x="2736891" y="744230"/>
                </a:lnTo>
                <a:lnTo>
                  <a:pt x="2795869" y="796900"/>
                </a:lnTo>
                <a:lnTo>
                  <a:pt x="2808580" y="819760"/>
                </a:lnTo>
                <a:lnTo>
                  <a:pt x="2822570" y="869320"/>
                </a:lnTo>
                <a:lnTo>
                  <a:pt x="2820010" y="937260"/>
                </a:lnTo>
                <a:lnTo>
                  <a:pt x="2828971" y="960120"/>
                </a:lnTo>
                <a:lnTo>
                  <a:pt x="2874051" y="1009680"/>
                </a:lnTo>
                <a:lnTo>
                  <a:pt x="2890510" y="1039490"/>
                </a:lnTo>
                <a:lnTo>
                  <a:pt x="2899380" y="1065550"/>
                </a:lnTo>
                <a:lnTo>
                  <a:pt x="2914650" y="1089050"/>
                </a:lnTo>
                <a:lnTo>
                  <a:pt x="2958450" y="1132850"/>
                </a:lnTo>
                <a:lnTo>
                  <a:pt x="3022641" y="1215420"/>
                </a:lnTo>
                <a:lnTo>
                  <a:pt x="3082260" y="1271290"/>
                </a:lnTo>
                <a:lnTo>
                  <a:pt x="3127339" y="1298539"/>
                </a:lnTo>
                <a:lnTo>
                  <a:pt x="3145170" y="1325880"/>
                </a:lnTo>
                <a:lnTo>
                  <a:pt x="3149011" y="1395740"/>
                </a:lnTo>
                <a:lnTo>
                  <a:pt x="3146450" y="1429390"/>
                </a:lnTo>
                <a:lnTo>
                  <a:pt x="3185130" y="1492209"/>
                </a:lnTo>
                <a:lnTo>
                  <a:pt x="3199120" y="1524030"/>
                </a:lnTo>
                <a:lnTo>
                  <a:pt x="3235970" y="1549999"/>
                </a:lnTo>
                <a:lnTo>
                  <a:pt x="3253069" y="1579900"/>
                </a:lnTo>
                <a:lnTo>
                  <a:pt x="3268340" y="1627541"/>
                </a:lnTo>
                <a:lnTo>
                  <a:pt x="3291200" y="1770370"/>
                </a:lnTo>
                <a:lnTo>
                  <a:pt x="3324850" y="1804660"/>
                </a:lnTo>
                <a:lnTo>
                  <a:pt x="3423239" y="1992020"/>
                </a:lnTo>
                <a:lnTo>
                  <a:pt x="3507730" y="2110710"/>
                </a:lnTo>
                <a:lnTo>
                  <a:pt x="3548421" y="2199681"/>
                </a:lnTo>
                <a:lnTo>
                  <a:pt x="3609960" y="2306940"/>
                </a:lnTo>
                <a:lnTo>
                  <a:pt x="3731941" y="2543221"/>
                </a:lnTo>
                <a:lnTo>
                  <a:pt x="3803630" y="2616190"/>
                </a:lnTo>
                <a:lnTo>
                  <a:pt x="3831610" y="2656881"/>
                </a:lnTo>
                <a:lnTo>
                  <a:pt x="3884280" y="2688610"/>
                </a:lnTo>
                <a:lnTo>
                  <a:pt x="3940150" y="2734330"/>
                </a:lnTo>
                <a:lnTo>
                  <a:pt x="3886840" y="2729850"/>
                </a:lnTo>
                <a:lnTo>
                  <a:pt x="3854470" y="2740000"/>
                </a:lnTo>
                <a:lnTo>
                  <a:pt x="3845601" y="2767980"/>
                </a:lnTo>
                <a:lnTo>
                  <a:pt x="3841760" y="2790840"/>
                </a:lnTo>
                <a:lnTo>
                  <a:pt x="3848070" y="2910810"/>
                </a:lnTo>
                <a:lnTo>
                  <a:pt x="3862060" y="2971160"/>
                </a:lnTo>
                <a:lnTo>
                  <a:pt x="3909700" y="3087380"/>
                </a:lnTo>
                <a:lnTo>
                  <a:pt x="3945270" y="3121670"/>
                </a:lnTo>
                <a:lnTo>
                  <a:pt x="3963650" y="3143890"/>
                </a:lnTo>
                <a:lnTo>
                  <a:pt x="3986510" y="3160441"/>
                </a:lnTo>
                <a:lnTo>
                  <a:pt x="4098889" y="3199760"/>
                </a:lnTo>
                <a:lnTo>
                  <a:pt x="4165641" y="3283610"/>
                </a:lnTo>
                <a:lnTo>
                  <a:pt x="4312950" y="3388401"/>
                </a:lnTo>
                <a:lnTo>
                  <a:pt x="4326849" y="3417570"/>
                </a:lnTo>
                <a:close/>
              </a:path>
            </a:pathLst>
          </a:custGeom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4" name="s3-nile"/>
          <p:cNvSpPr/>
          <p:nvPr/>
        </p:nvSpPr>
        <p:spPr>
          <a:xfrm>
            <a:off x="8554761" y="2110710"/>
            <a:ext cx="764530" cy="2915930"/>
          </a:xfrm>
          <a:custGeom>
            <a:avLst/>
            <a:gdLst/>
            <a:ahLst/>
            <a:cxnLst/>
            <a:rect l="l" t="t" r="r" b="b"/>
            <a:pathLst>
              <a:path w="764530" h="2915930">
                <a:moveTo>
                  <a:pt x="195590" y="2915930"/>
                </a:moveTo>
                <a:lnTo>
                  <a:pt x="337779" y="2667030"/>
                </a:lnTo>
                <a:lnTo>
                  <a:pt x="657819" y="2489180"/>
                </a:lnTo>
                <a:lnTo>
                  <a:pt x="764530" y="2169140"/>
                </a:lnTo>
                <a:lnTo>
                  <a:pt x="753740" y="1991380"/>
                </a:lnTo>
                <a:lnTo>
                  <a:pt x="657819" y="1742481"/>
                </a:lnTo>
                <a:lnTo>
                  <a:pt x="671810" y="1600200"/>
                </a:lnTo>
                <a:lnTo>
                  <a:pt x="700430" y="1436340"/>
                </a:lnTo>
                <a:lnTo>
                  <a:pt x="551200" y="1422441"/>
                </a:lnTo>
                <a:lnTo>
                  <a:pt x="337779" y="1297899"/>
                </a:lnTo>
                <a:lnTo>
                  <a:pt x="266730" y="1173450"/>
                </a:lnTo>
                <a:lnTo>
                  <a:pt x="153071" y="1073780"/>
                </a:lnTo>
                <a:lnTo>
                  <a:pt x="35570" y="888980"/>
                </a:lnTo>
                <a:lnTo>
                  <a:pt x="0" y="746790"/>
                </a:lnTo>
                <a:lnTo>
                  <a:pt x="71140" y="568940"/>
                </a:lnTo>
                <a:lnTo>
                  <a:pt x="124450" y="401970"/>
                </a:lnTo>
                <a:lnTo>
                  <a:pt x="177759" y="213330"/>
                </a:lnTo>
                <a:lnTo>
                  <a:pt x="174010" y="57150"/>
                </a:lnTo>
                <a:lnTo>
                  <a:pt x="142281" y="0"/>
                </a:lnTo>
              </a:path>
            </a:pathLst>
          </a:custGeom>
          <a:ln w="12700">
            <a:solidFill>
              <a:schemeClr val="accent1"/>
            </a:solidFill>
            <a:prstDash val="solid"/>
          </a:ln>
        </p:spPr>
      </p:sp>
      <p:sp>
        <p:nvSpPr>
          <p:cNvPr id="5" name="s3-delta"/>
          <p:cNvSpPr/>
          <p:nvPr/>
        </p:nvSpPr>
        <p:spPr>
          <a:xfrm>
            <a:off x="8419429" y="1641439"/>
            <a:ext cx="522580" cy="469270"/>
          </a:xfrm>
          <a:custGeom>
            <a:avLst/>
            <a:gdLst/>
            <a:ahLst/>
            <a:cxnLst/>
            <a:rect l="l" t="t" r="r" b="b"/>
            <a:pathLst>
              <a:path w="522580" h="469270">
                <a:moveTo>
                  <a:pt x="277520" y="469270"/>
                </a:moveTo>
                <a:lnTo>
                  <a:pt x="188549" y="326989"/>
                </a:lnTo>
                <a:lnTo>
                  <a:pt x="81930" y="184800"/>
                </a:lnTo>
                <a:lnTo>
                  <a:pt x="0" y="20940"/>
                </a:lnTo>
                <a:moveTo>
                  <a:pt x="277520" y="469270"/>
                </a:moveTo>
                <a:lnTo>
                  <a:pt x="330830" y="326989"/>
                </a:lnTo>
                <a:lnTo>
                  <a:pt x="419710" y="149230"/>
                </a:lnTo>
                <a:lnTo>
                  <a:pt x="522580" y="0"/>
                </a:lnTo>
              </a:path>
            </a:pathLst>
          </a:custGeom>
          <a:ln w="9525">
            <a:solidFill>
              <a:schemeClr val="accent1"/>
            </a:solidFill>
            <a:prstDash val="solid"/>
          </a:ln>
        </p:spPr>
      </p:sp>
      <p:sp>
        <p:nvSpPr>
          <p:cNvPr id="6" name="s3-cairo"/>
          <p:cNvSpPr/>
          <p:nvPr/>
        </p:nvSpPr>
        <p:spPr>
          <a:xfrm>
            <a:off x="8709660" y="2148840"/>
            <a:ext cx="38130" cy="38130"/>
          </a:xfrm>
          <a:prstGeom prst="ellipse">
            <a:avLst/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7" name="s3-assiut"/>
          <p:cNvSpPr/>
          <p:nvPr/>
        </p:nvSpPr>
        <p:spPr>
          <a:xfrm>
            <a:off x="8676010" y="315276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3-assiutLabel"/>
          <p:cNvSpPr txBox="1"/>
          <p:nvPr/>
        </p:nvSpPr>
        <p:spPr>
          <a:xfrm>
            <a:off x="8847460" y="3114721"/>
            <a:ext cx="127001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ASSIUT</a:t>
            </a:r>
            <a:endParaRPr lang="en-US" sz="1000" dirty="0"/>
          </a:p>
        </p:txBody>
      </p:sp>
      <p:sp>
        <p:nvSpPr>
          <p:cNvPr id="9" name="s3-born"/>
          <p:cNvSpPr txBox="1"/>
          <p:nvPr/>
        </p:nvSpPr>
        <p:spPr>
          <a:xfrm>
            <a:off x="1015990" y="228600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BORN 23 NOVEMBER 2000</a:t>
            </a:r>
            <a:endParaRPr lang="en-US" sz="1100" dirty="0"/>
          </a:p>
        </p:txBody>
      </p:sp>
      <p:sp>
        <p:nvSpPr>
          <p:cNvPr id="10" name="s3-began"/>
          <p:cNvSpPr txBox="1"/>
          <p:nvPr/>
        </p:nvSpPr>
        <p:spPr>
          <a:xfrm>
            <a:off x="1015990" y="2667030"/>
            <a:ext cx="5715000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It began in Assiut, Upper Egypt.</a:t>
            </a:r>
            <a:endParaRPr lang="en-US" sz="2200" dirty="0"/>
          </a:p>
        </p:txBody>
      </p:sp>
      <p:sp>
        <p:nvSpPr>
          <p:cNvPr id="11" name="s3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2" name="s3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3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4" name="s3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3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6" name="s3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3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8" name="s3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3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20" name="s3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3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22" name="s3-halo"/>
          <p:cNvSpPr/>
          <p:nvPr/>
        </p:nvSpPr>
        <p:spPr>
          <a:xfrm>
            <a:off x="132716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3" name="s3-playhead"/>
          <p:cNvSpPr/>
          <p:nvPr/>
        </p:nvSpPr>
        <p:spPr>
          <a:xfrm>
            <a:off x="137160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7" grpId="0" animBg="1"/>
      <p:bldP spid="10" grpId="0" animBg="1"/>
      <p:bldP spid="5" grpId="0" animBg="1"/>
      <p:bldP spid="8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4-born"/>
          <p:cNvSpPr txBox="1"/>
          <p:nvPr/>
        </p:nvSpPr>
        <p:spPr>
          <a:xfrm>
            <a:off x="1015990" y="228600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BORN 23 NOVEMBER 2000</a:t>
            </a:r>
            <a:endParaRPr lang="en-US" sz="1100" dirty="0"/>
          </a:p>
        </p:txBody>
      </p:sp>
      <p:sp>
        <p:nvSpPr>
          <p:cNvPr id="4" name="s4-einstein"/>
          <p:cNvSpPr txBox="1"/>
          <p:nvPr/>
        </p:nvSpPr>
        <p:spPr>
          <a:xfrm>
            <a:off x="1015990" y="2667030"/>
            <a:ext cx="6349959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His physics teachers called him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“Egypt’s Einstein.”</a:t>
            </a:r>
            <a:endParaRPr lang="en-US" sz="2400" dirty="0"/>
          </a:p>
        </p:txBody>
      </p:sp>
      <p:pic>
        <p:nvPicPr>
          <p:cNvPr id="5" name="s4-mark" descr="D:\Projects Until 2024\my website\v2\MahmoudAlyosifySite.github.io\intro-video\deck\assets\ma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702" y="3192536"/>
            <a:ext cx="2322576" cy="128016"/>
          </a:xfrm>
          <a:prstGeom prst="rect">
            <a:avLst/>
          </a:prstGeom>
        </p:spPr>
      </p:pic>
      <p:pic>
        <p:nvPicPr>
          <p:cNvPr id="6" name="s4-toddler" descr="D:\Projects Until 2024\my website\v2\MahmoudAlyosifySite.github.io\intro-video\deck\assets\toddler.jpg">    </p:cNvPr>
          <p:cNvPicPr>
            <a:picLocks noChangeAspect="1"/>
          </p:cNvPicPr>
          <p:nvPr/>
        </p:nvPicPr>
        <p:blipFill>
          <a:blip r:embed="rId2"/>
          <a:srcRect l="0" t="282" r="3846" b="10282"/>
          <a:stretch>
            <a:fillRect/>
          </a:stretch>
        </p:blipFill>
        <p:spPr>
          <a:xfrm>
            <a:off x="5206959" y="1460480"/>
            <a:ext cx="1968520" cy="330199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pic>
        <p:nvPicPr>
          <p:cNvPr id="7" name="s4-nursery" descr="D:\Projects Until 2024\my website\v2\MahmoudAlyosifySite.github.io\intro-video\deck\assets\childhood.jpg">    </p:cNvPr>
          <p:cNvPicPr>
            <a:picLocks noChangeAspect="1"/>
          </p:cNvPicPr>
          <p:nvPr/>
        </p:nvPicPr>
        <p:blipFill>
          <a:blip r:embed="rId3"/>
          <a:srcRect l="15476" t="0" r="15476" b="0"/>
          <a:stretch>
            <a:fillRect/>
          </a:stretch>
        </p:blipFill>
        <p:spPr>
          <a:xfrm>
            <a:off x="7302490" y="1841510"/>
            <a:ext cx="1841510" cy="266703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pic>
        <p:nvPicPr>
          <p:cNvPr id="8" name="s4-horse" descr="D:\Projects Until 2024\my website\v2\MahmoudAlyosifySite.github.io\intro-video\deck\assets\horse.jpg">    </p:cNvPr>
          <p:cNvPicPr>
            <a:picLocks noChangeAspect="1"/>
          </p:cNvPicPr>
          <p:nvPr/>
        </p:nvPicPr>
        <p:blipFill>
          <a:blip r:embed="rId4"/>
          <a:srcRect l="9252" t="0" r="29252" b="3846"/>
          <a:stretch>
            <a:fillRect/>
          </a:stretch>
        </p:blipFill>
        <p:spPr>
          <a:xfrm>
            <a:off x="9271010" y="1587490"/>
            <a:ext cx="1904970" cy="304797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9" name="s4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0" name="s4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4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2" name="s4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4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4" name="s4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4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6" name="s4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4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8" name="s4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4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20" name="s4-halo"/>
          <p:cNvSpPr/>
          <p:nvPr/>
        </p:nvSpPr>
        <p:spPr>
          <a:xfrm>
            <a:off x="132716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1" name="s4-playhead"/>
          <p:cNvSpPr/>
          <p:nvPr/>
        </p:nvSpPr>
        <p:spPr>
          <a:xfrm>
            <a:off x="137160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375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5-class" descr="D:\Projects Until 2024\my website\v2\MahmoudAlyosifySite.github.io\intro-video\deck\assets\fci.jpg">    </p:cNvPr>
          <p:cNvPicPr>
            <a:picLocks noChangeAspect="1"/>
          </p:cNvPicPr>
          <p:nvPr/>
        </p:nvPicPr>
        <p:blipFill>
          <a:blip r:embed="rId1"/>
          <a:srcRect l="0" t="7604" r="10714" b="17604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pic>
        <p:nvPicPr>
          <p:cNvPr id="4" name="s5-shade" descr="D:\Projects Until 2024\my website\v2\MahmoudAlyosifySite.github.io\intro-video\deck\assets\grad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pic>
        <p:nvPicPr>
          <p:cNvPr id="5" name="s5-foot" descr="D:\Projects Until 2024\my website\v2\MahmoudAlyosifySite.github.io\intro-video\deck\assets\grad-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60980"/>
            <a:ext cx="12191970" cy="1397020"/>
          </a:xfrm>
          <a:prstGeom prst="rect">
            <a:avLst/>
          </a:prstGeom>
        </p:spPr>
      </p:pic>
      <p:pic>
        <p:nvPicPr>
          <p:cNvPr id="6" name="s5-logo" descr="D:\Projects Until 2024\my website\v2\MahmoudAlyosifySite.github.io\intro-video\deck\assets\assi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90" y="1587490"/>
            <a:ext cx="649407" cy="952530"/>
          </a:xfrm>
          <a:prstGeom prst="rect">
            <a:avLst/>
          </a:prstGeom>
        </p:spPr>
      </p:pic>
      <p:sp>
        <p:nvSpPr>
          <p:cNvPr id="7" name="s5-years"/>
          <p:cNvSpPr txBox="1"/>
          <p:nvPr/>
        </p:nvSpPr>
        <p:spPr>
          <a:xfrm>
            <a:off x="1015990" y="2794041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2019 – 2023</a:t>
            </a:r>
            <a:endParaRPr lang="en-US" sz="1100" dirty="0"/>
          </a:p>
        </p:txBody>
      </p:sp>
      <p:sp>
        <p:nvSpPr>
          <p:cNvPr id="8" name="s5-uni"/>
          <p:cNvSpPr txBox="1"/>
          <p:nvPr/>
        </p:nvSpPr>
        <p:spPr>
          <a:xfrm>
            <a:off x="1015990" y="3047970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Assiut University</a:t>
            </a:r>
            <a:endParaRPr lang="en-US" sz="3600" dirty="0"/>
          </a:p>
        </p:txBody>
      </p:sp>
      <p:sp>
        <p:nvSpPr>
          <p:cNvPr id="9" name="s5-faculty"/>
          <p:cNvSpPr txBox="1"/>
          <p:nvPr/>
        </p:nvSpPr>
        <p:spPr>
          <a:xfrm>
            <a:off x="1015990" y="3651291"/>
            <a:ext cx="6985010" cy="30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Faculty of Computers and Information</a:t>
            </a:r>
            <a:endParaRPr lang="en-US" sz="1700" dirty="0"/>
          </a:p>
        </p:txBody>
      </p:sp>
      <p:sp>
        <p:nvSpPr>
          <p:cNvPr id="10" name="s5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1" name="s5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5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3" name="s5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5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5" name="s5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5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7" name="s5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5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9" name="s5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5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21" name="s5-halo"/>
          <p:cNvSpPr/>
          <p:nvPr/>
        </p:nvSpPr>
        <p:spPr>
          <a:xfrm>
            <a:off x="348615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2" name="s5-playhead"/>
          <p:cNvSpPr/>
          <p:nvPr/>
        </p:nvSpPr>
        <p:spPr>
          <a:xfrm>
            <a:off x="353059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6-logo" descr="D:\Projects Until 2024\my website\v2\MahmoudAlyosifySite.github.io\intro-video\deck\assets\assi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90" y="1587490"/>
            <a:ext cx="649407" cy="952530"/>
          </a:xfrm>
          <a:prstGeom prst="rect">
            <a:avLst/>
          </a:prstGeom>
        </p:spPr>
      </p:pic>
      <p:sp>
        <p:nvSpPr>
          <p:cNvPr id="4" name="s6-years"/>
          <p:cNvSpPr txBox="1"/>
          <p:nvPr/>
        </p:nvSpPr>
        <p:spPr>
          <a:xfrm>
            <a:off x="1015990" y="2794041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2019 – 2023</a:t>
            </a:r>
            <a:endParaRPr lang="en-US" sz="1100" dirty="0"/>
          </a:p>
        </p:txBody>
      </p:sp>
      <p:sp>
        <p:nvSpPr>
          <p:cNvPr id="5" name="s6-uni"/>
          <p:cNvSpPr txBox="1"/>
          <p:nvPr/>
        </p:nvSpPr>
        <p:spPr>
          <a:xfrm>
            <a:off x="1015990" y="3047970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Assiut University</a:t>
            </a:r>
            <a:endParaRPr lang="en-US" sz="3600" dirty="0"/>
          </a:p>
        </p:txBody>
      </p:sp>
      <p:sp>
        <p:nvSpPr>
          <p:cNvPr id="6" name="s6-degree"/>
          <p:cNvSpPr txBox="1"/>
          <p:nvPr/>
        </p:nvSpPr>
        <p:spPr>
          <a:xfrm>
            <a:off x="1015990" y="3651291"/>
            <a:ext cx="3810030" cy="30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B.Sc. Computer &amp; Information Science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Bioinformatics</a:t>
            </a:r>
            <a:endParaRPr lang="en-US" sz="1700" dirty="0"/>
          </a:p>
        </p:txBody>
      </p:sp>
      <p:pic>
        <p:nvPicPr>
          <p:cNvPr id="7" name="s6-fci" descr="D:\Projects Until 2024\my website\v2\MahmoudAlyosifySite.github.io\intro-video\deck\assets\student.jpg">    </p:cNvPr>
          <p:cNvPicPr>
            <a:picLocks noChangeAspect="1"/>
          </p:cNvPicPr>
          <p:nvPr/>
        </p:nvPicPr>
        <p:blipFill>
          <a:blip r:embed="rId2"/>
          <a:srcRect l="2283" t="0" r="2283" b="0"/>
          <a:stretch>
            <a:fillRect/>
          </a:stretch>
        </p:blipFill>
        <p:spPr>
          <a:xfrm>
            <a:off x="4953030" y="1904970"/>
            <a:ext cx="2095530" cy="273049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pic>
        <p:nvPicPr>
          <p:cNvPr id="8" name="s6-portrait" descr="D:\Projects Until 2024\my website\v2\MahmoudAlyosifySite.github.io\intro-video\deck\assets\youth.jpg">    </p:cNvPr>
          <p:cNvPicPr>
            <a:picLocks noChangeAspect="1"/>
          </p:cNvPicPr>
          <p:nvPr/>
        </p:nvPicPr>
        <p:blipFill>
          <a:blip r:embed="rId3"/>
          <a:srcRect l="4249" t="0" r="4249" b="0"/>
          <a:stretch>
            <a:fillRect/>
          </a:stretch>
        </p:blipFill>
        <p:spPr>
          <a:xfrm>
            <a:off x="7175480" y="1587490"/>
            <a:ext cx="1904970" cy="330199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pic>
        <p:nvPicPr>
          <p:cNvPr id="9" name="s6-luxor" descr="D:\Projects Until 2024\my website\v2\MahmoudAlyosifySite.github.io\intro-video\deck\assets\luxor.jpg">    </p:cNvPr>
          <p:cNvPicPr>
            <a:picLocks noChangeAspect="1"/>
          </p:cNvPicPr>
          <p:nvPr/>
        </p:nvPicPr>
        <p:blipFill>
          <a:blip r:embed="rId4"/>
          <a:srcRect l="18000" t="9435" r="2000" b="10581"/>
          <a:stretch>
            <a:fillRect/>
          </a:stretch>
        </p:blipFill>
        <p:spPr>
          <a:xfrm>
            <a:off x="9207459" y="1460480"/>
            <a:ext cx="1968520" cy="349886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10" name="s6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1" name="s6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6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3" name="s6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6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5" name="s6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6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7" name="s6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6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9" name="s6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6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21" name="s6-halo"/>
          <p:cNvSpPr/>
          <p:nvPr/>
        </p:nvSpPr>
        <p:spPr>
          <a:xfrm>
            <a:off x="510537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2" name="s6-playhead"/>
          <p:cNvSpPr/>
          <p:nvPr/>
        </p:nvSpPr>
        <p:spPr>
          <a:xfrm>
            <a:off x="5149809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3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7-title"/>
          <p:cNvSpPr txBox="1"/>
          <p:nvPr/>
        </p:nvSpPr>
        <p:spPr>
          <a:xfrm>
            <a:off x="1651041" y="952530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He learned to lead.</a:t>
            </a:r>
            <a:endParaRPr lang="en-US" sz="3600" dirty="0"/>
          </a:p>
        </p:txBody>
      </p:sp>
      <p:pic>
        <p:nvPicPr>
          <p:cNvPr id="4" name="s7-union" descr="D:\Projects Until 2024\my website\v2\MahmoudAlyosifySite.github.io\intro-video\deck\assets\union.jpg">    </p:cNvPr>
          <p:cNvPicPr>
            <a:picLocks noChangeAspect="1"/>
          </p:cNvPicPr>
          <p:nvPr/>
        </p:nvPicPr>
        <p:blipFill>
          <a:blip r:embed="rId1"/>
          <a:srcRect l="25532" t="3846" r="25532" b="0"/>
          <a:stretch>
            <a:fillRect/>
          </a:stretch>
        </p:blipFill>
        <p:spPr>
          <a:xfrm>
            <a:off x="1015990" y="1777959"/>
            <a:ext cx="2413010" cy="355601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5" name="s7-unionCap"/>
          <p:cNvSpPr txBox="1"/>
          <p:nvPr/>
        </p:nvSpPr>
        <p:spPr>
          <a:xfrm>
            <a:off x="888980" y="5486400"/>
            <a:ext cx="266703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STUDENT UNION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Scientific Committee Secretary</a:t>
            </a:r>
            <a:endParaRPr lang="en-US" sz="1000" dirty="0"/>
          </a:p>
        </p:txBody>
      </p:sp>
      <p:pic>
        <p:nvPicPr>
          <p:cNvPr id="6" name="s7-hackathon" descr="D:\Projects Until 2024\my website\v2\MahmoudAlyosifySite.github.io\intro-video\deck\assets\hackathon.jpg">    </p:cNvPr>
          <p:cNvPicPr>
            <a:picLocks noChangeAspect="1"/>
          </p:cNvPicPr>
          <p:nvPr/>
        </p:nvPicPr>
        <p:blipFill>
          <a:blip r:embed="rId2"/>
          <a:srcRect l="22532" t="0" r="28532" b="3846"/>
          <a:stretch>
            <a:fillRect/>
          </a:stretch>
        </p:blipFill>
        <p:spPr>
          <a:xfrm>
            <a:off x="3594141" y="1777959"/>
            <a:ext cx="2413010" cy="355601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7" name="s7-hackathonCap"/>
          <p:cNvSpPr txBox="1"/>
          <p:nvPr/>
        </p:nvSpPr>
        <p:spPr>
          <a:xfrm>
            <a:off x="3467130" y="5486400"/>
            <a:ext cx="266703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1ST PLACE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Smart Cities Hackathon · 2022</a:t>
            </a:r>
            <a:endParaRPr lang="en-US" sz="1000" dirty="0"/>
          </a:p>
        </p:txBody>
      </p:sp>
      <p:pic>
        <p:nvPicPr>
          <p:cNvPr id="8" name="s7-ideal" descr="D:\Projects Until 2024\my website\v2\MahmoudAlyosifySite.github.io\intro-video\deck\assets\ideal.jpg">    </p:cNvPr>
          <p:cNvPicPr>
            <a:picLocks noChangeAspect="1"/>
          </p:cNvPicPr>
          <p:nvPr/>
        </p:nvPicPr>
        <p:blipFill>
          <a:blip r:embed="rId3"/>
          <a:srcRect l="44256" t="0" r="12256" b="3846"/>
          <a:stretch>
            <a:fillRect/>
          </a:stretch>
        </p:blipFill>
        <p:spPr>
          <a:xfrm>
            <a:off x="6172200" y="1777959"/>
            <a:ext cx="2413010" cy="355601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9" name="s7-idealCap"/>
          <p:cNvSpPr txBox="1"/>
          <p:nvPr/>
        </p:nvSpPr>
        <p:spPr>
          <a:xfrm>
            <a:off x="6045190" y="5486400"/>
            <a:ext cx="266703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IDEAL STUDENT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2022–2023</a:t>
            </a:r>
            <a:endParaRPr lang="en-US" sz="1000" dirty="0"/>
          </a:p>
        </p:txBody>
      </p:sp>
      <p:pic>
        <p:nvPicPr>
          <p:cNvPr id="10" name="s7-vitalism" descr="D:\Projects Until 2024\my website\v2\MahmoudAlyosifySite.github.io\intro-video\deck\assets\vitalism.jpg">    </p:cNvPr>
          <p:cNvPicPr>
            <a:picLocks noChangeAspect="1"/>
          </p:cNvPicPr>
          <p:nvPr/>
        </p:nvPicPr>
        <p:blipFill>
          <a:blip r:embed="rId4"/>
          <a:srcRect l="25532" t="0" r="25532" b="3846"/>
          <a:stretch>
            <a:fillRect/>
          </a:stretch>
        </p:blipFill>
        <p:spPr>
          <a:xfrm>
            <a:off x="8750259" y="1777959"/>
            <a:ext cx="2413010" cy="355601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11" name="s7-vitalismCap"/>
          <p:cNvSpPr txBox="1"/>
          <p:nvPr/>
        </p:nvSpPr>
        <p:spPr>
          <a:xfrm>
            <a:off x="8623341" y="5486400"/>
            <a:ext cx="266703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VITALISM SOLUTION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Imagine Cup semi-finalist</a:t>
            </a:r>
            <a:endParaRPr lang="en-US" sz="1000" dirty="0"/>
          </a:p>
        </p:txBody>
      </p:sp>
      <p:sp>
        <p:nvSpPr>
          <p:cNvPr id="12" name="s7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3" name="s7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7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5" name="s7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7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7" name="s7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7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9" name="s7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7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21" name="s7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7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23" name="s7-halo"/>
          <p:cNvSpPr/>
          <p:nvPr/>
        </p:nvSpPr>
        <p:spPr>
          <a:xfrm>
            <a:off x="564514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4" name="s7-playhead"/>
          <p:cNvSpPr/>
          <p:nvPr/>
        </p:nvSpPr>
        <p:spPr>
          <a:xfrm>
            <a:off x="568958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6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8-grad" descr="D:\Projects Until 2024\my website\v2\MahmoudAlyosifySite.github.io\intro-video\deck\assets\graduation.jpg">    </p:cNvPr>
          <p:cNvPicPr>
            <a:picLocks noChangeAspect="1"/>
          </p:cNvPicPr>
          <p:nvPr/>
        </p:nvPicPr>
        <p:blipFill>
          <a:blip r:embed="rId1"/>
          <a:srcRect l="0" t="5831" r="12281" b="20248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pic>
        <p:nvPicPr>
          <p:cNvPr id="4" name="s8-shade" descr="D:\Projects Until 2024\my website\v2\MahmoudAlyosifySite.github.io\intro-video\deck\assets\grad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5" name="s8-date"/>
          <p:cNvSpPr txBox="1"/>
          <p:nvPr/>
        </p:nvSpPr>
        <p:spPr>
          <a:xfrm>
            <a:off x="1015990" y="266703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JULY 2023</a:t>
            </a:r>
            <a:endParaRPr lang="en-US" sz="1100" dirty="0"/>
          </a:p>
        </p:txBody>
      </p:sp>
      <p:sp>
        <p:nvSpPr>
          <p:cNvPr id="6" name="s8-title"/>
          <p:cNvSpPr txBox="1"/>
          <p:nvPr/>
        </p:nvSpPr>
        <p:spPr>
          <a:xfrm>
            <a:off x="1015990" y="2920959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Graduated.</a:t>
            </a:r>
            <a:endParaRPr lang="en-US" sz="3600" dirty="0"/>
          </a:p>
        </p:txBody>
      </p:sp>
      <p:pic>
        <p:nvPicPr>
          <p:cNvPr id="7" name="s8-mark" descr="D:\Projects Until 2024\my website\v2\MahmoudAlyosifySite.github.io\intro-video\deck\assets\mar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58" y="3204423"/>
            <a:ext cx="2531334" cy="192024"/>
          </a:xfrm>
          <a:prstGeom prst="rect">
            <a:avLst/>
          </a:prstGeom>
        </p:spPr>
      </p:pic>
      <p:sp>
        <p:nvSpPr>
          <p:cNvPr id="8" name="s8-gpa"/>
          <p:cNvSpPr txBox="1"/>
          <p:nvPr/>
        </p:nvSpPr>
        <p:spPr>
          <a:xfrm>
            <a:off x="1015990" y="3556010"/>
            <a:ext cx="6985010" cy="30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GPA 3.53 / 4.00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Graduation project graded A+</a:t>
            </a:r>
            <a:endParaRPr lang="en-US" sz="1700" dirty="0"/>
          </a:p>
        </p:txBody>
      </p:sp>
      <p:sp>
        <p:nvSpPr>
          <p:cNvPr id="9" name="s8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0" name="s8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8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2" name="s8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8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4" name="s8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8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6" name="s8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8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8" name="s8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8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20" name="s8-halo"/>
          <p:cNvSpPr/>
          <p:nvPr/>
        </p:nvSpPr>
        <p:spPr>
          <a:xfrm>
            <a:off x="564514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1" name="s8-playhead"/>
          <p:cNvSpPr/>
          <p:nvPr/>
        </p:nvSpPr>
        <p:spPr>
          <a:xfrm>
            <a:off x="568958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6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9-years"/>
          <p:cNvSpPr txBox="1"/>
          <p:nvPr/>
        </p:nvSpPr>
        <p:spPr>
          <a:xfrm>
            <a:off x="1015990" y="254002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2024 – 2025</a:t>
            </a:r>
            <a:endParaRPr lang="en-US" sz="1100" dirty="0"/>
          </a:p>
        </p:txBody>
      </p:sp>
      <p:sp>
        <p:nvSpPr>
          <p:cNvPr id="4" name="s9-role"/>
          <p:cNvSpPr txBox="1"/>
          <p:nvPr/>
        </p:nvSpPr>
        <p:spPr>
          <a:xfrm>
            <a:off x="1015990" y="2794041"/>
            <a:ext cx="4317980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Military service,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as a systems engineer.</a:t>
            </a:r>
            <a:endParaRPr lang="en-US" sz="2200" dirty="0"/>
          </a:p>
        </p:txBody>
      </p:sp>
      <p:sp>
        <p:nvSpPr>
          <p:cNvPr id="5" name="s9-tolls"/>
          <p:cNvSpPr txBox="1"/>
          <p:nvPr/>
        </p:nvSpPr>
        <p:spPr>
          <a:xfrm>
            <a:off x="1015990" y="3651291"/>
            <a:ext cx="4317980" cy="30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Back-end systems for toll roads serving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over half of Egypt’s vehicles.</a:t>
            </a:r>
            <a:endParaRPr lang="en-US" sz="1700" dirty="0"/>
          </a:p>
        </p:txBody>
      </p:sp>
      <p:sp>
        <p:nvSpPr>
          <p:cNvPr id="6" name="s9-kept"/>
          <p:cNvSpPr txBox="1"/>
          <p:nvPr/>
        </p:nvSpPr>
        <p:spPr>
          <a:xfrm>
            <a:off x="1015990" y="4381530"/>
            <a:ext cx="43179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He kept learning when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there was little room to.</a:t>
            </a:r>
            <a:endParaRPr lang="en-US" sz="2000" dirty="0"/>
          </a:p>
        </p:txBody>
      </p:sp>
      <p:pic>
        <p:nvPicPr>
          <p:cNvPr id="7" name="s9-officers" descr="D:\Projects Until 2024\my website\v2\MahmoudAlyosifySite.github.io\intro-video\deck\assets\officers.jpg">    </p:cNvPr>
          <p:cNvPicPr>
            <a:picLocks noChangeAspect="1"/>
          </p:cNvPicPr>
          <p:nvPr/>
        </p:nvPicPr>
        <p:blipFill>
          <a:blip r:embed="rId1"/>
          <a:srcRect l="4545" t="678" r="4545" b="8413"/>
          <a:stretch>
            <a:fillRect/>
          </a:stretch>
        </p:blipFill>
        <p:spPr>
          <a:xfrm>
            <a:off x="5460980" y="1587490"/>
            <a:ext cx="2794041" cy="3492459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pic>
        <p:nvPicPr>
          <p:cNvPr id="8" name="s9-gate" descr="D:\Projects Until 2024\my website\v2\MahmoudAlyosifySite.github.io\intro-video\deck\assets\service.jpg">    </p:cNvPr>
          <p:cNvPicPr>
            <a:picLocks noChangeAspect="1"/>
          </p:cNvPicPr>
          <p:nvPr/>
        </p:nvPicPr>
        <p:blipFill>
          <a:blip r:embed="rId2"/>
          <a:srcRect l="29803" t="9545" r="29803" b="7121"/>
          <a:stretch>
            <a:fillRect/>
          </a:stretch>
        </p:blipFill>
        <p:spPr>
          <a:xfrm>
            <a:off x="8509041" y="1587490"/>
            <a:ext cx="2540020" cy="3492459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9" name="s9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0" name="s9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9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2" name="s9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9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4" name="s9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9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6" name="s9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9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8" name="s9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9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20" name="s9-halo"/>
          <p:cNvSpPr/>
          <p:nvPr/>
        </p:nvSpPr>
        <p:spPr>
          <a:xfrm>
            <a:off x="691515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1" name="s9-playhead"/>
          <p:cNvSpPr/>
          <p:nvPr/>
        </p:nvSpPr>
        <p:spPr>
          <a:xfrm>
            <a:off x="695959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6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10-board" descr="D:\Projects Until 2024\my website\v2\MahmoudAlyosifySite.github.io\intro-video\deck\assets\teach.jpg">    </p:cNvPr>
          <p:cNvPicPr>
            <a:picLocks noChangeAspect="1"/>
          </p:cNvPicPr>
          <p:nvPr/>
        </p:nvPicPr>
        <p:blipFill>
          <a:blip r:embed="rId1"/>
          <a:srcRect l="4545" t="0" r="4545" b="9135"/>
          <a:stretch>
            <a:fillRect/>
          </a:stretch>
        </p:blipFill>
        <p:spPr>
          <a:xfrm>
            <a:off x="4826020" y="1270010"/>
            <a:ext cx="6349959" cy="3765591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pic>
        <p:nvPicPr>
          <p:cNvPr id="4" name="s10-logo" descr="D:\Projects Until 2024\my website\v2\MahmoudAlyosifySite.github.io\intro-video\deck\assets\einstein-mis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0" y="952530"/>
            <a:ext cx="952530" cy="952530"/>
          </a:xfrm>
          <a:prstGeom prst="rect">
            <a:avLst/>
          </a:prstGeom>
        </p:spPr>
      </p:pic>
      <p:sp>
        <p:nvSpPr>
          <p:cNvPr id="5" name="s10-channel"/>
          <p:cNvSpPr txBox="1"/>
          <p:nvPr/>
        </p:nvSpPr>
        <p:spPr>
          <a:xfrm>
            <a:off x="1015990" y="209553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EINSTEIN MISR · SINCE 2020</a:t>
            </a:r>
            <a:endParaRPr lang="en-US" sz="1100" dirty="0"/>
          </a:p>
        </p:txBody>
      </p:sp>
      <p:sp>
        <p:nvSpPr>
          <p:cNvPr id="6" name="s10-lessons"/>
          <p:cNvSpPr txBox="1"/>
          <p:nvPr/>
        </p:nvSpPr>
        <p:spPr>
          <a:xfrm>
            <a:off x="1015990" y="2387590"/>
            <a:ext cx="3556010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Arabic lessons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in algorithms,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discrete maths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and probability.</a:t>
            </a:r>
            <a:endParaRPr lang="en-US" sz="2200" dirty="0"/>
          </a:p>
        </p:txBody>
      </p:sp>
      <p:sp>
        <p:nvSpPr>
          <p:cNvPr id="7" name="s10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8" name="s10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10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0" name="s10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10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2" name="s10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10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4" name="s10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10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6" name="s10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10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18" name="s10-halo"/>
          <p:cNvSpPr/>
          <p:nvPr/>
        </p:nvSpPr>
        <p:spPr>
          <a:xfrm>
            <a:off x="818516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19" name="s10-playhead"/>
          <p:cNvSpPr/>
          <p:nvPr/>
        </p:nvSpPr>
        <p:spPr>
          <a:xfrm>
            <a:off x="822960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1-learners"/>
          <p:cNvSpPr txBox="1"/>
          <p:nvPr/>
        </p:nvSpPr>
        <p:spPr>
          <a:xfrm>
            <a:off x="1143000" y="2730490"/>
            <a:ext cx="4826020" cy="133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0" dirty="0">
                <a:solidFill>
                  <a:schemeClr val="accent2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10,000+</a:t>
            </a:r>
            <a:endParaRPr lang="en-US" sz="7500" dirty="0"/>
          </a:p>
        </p:txBody>
      </p:sp>
      <p:sp>
        <p:nvSpPr>
          <p:cNvPr id="4" name="s11-learnersLabel"/>
          <p:cNvSpPr txBox="1"/>
          <p:nvPr/>
        </p:nvSpPr>
        <p:spPr>
          <a:xfrm>
            <a:off x="1968520" y="3810030"/>
            <a:ext cx="317498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LEARNERS</a:t>
            </a:r>
            <a:endParaRPr lang="en-US" sz="1100" dirty="0"/>
          </a:p>
        </p:txBody>
      </p:sp>
      <p:sp>
        <p:nvSpPr>
          <p:cNvPr id="5" name="s11-views"/>
          <p:cNvSpPr txBox="1"/>
          <p:nvPr/>
        </p:nvSpPr>
        <p:spPr>
          <a:xfrm>
            <a:off x="5969020" y="2730490"/>
            <a:ext cx="4063959" cy="133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0" dirty="0">
                <a:solidFill>
                  <a:schemeClr val="accent2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700K+</a:t>
            </a:r>
            <a:endParaRPr lang="en-US" sz="7500" dirty="0"/>
          </a:p>
        </p:txBody>
      </p:sp>
      <p:sp>
        <p:nvSpPr>
          <p:cNvPr id="6" name="s11-viewsLabel"/>
          <p:cNvSpPr txBox="1"/>
          <p:nvPr/>
        </p:nvSpPr>
        <p:spPr>
          <a:xfrm>
            <a:off x="6413510" y="3810030"/>
            <a:ext cx="317498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YOUTUBE VIEWS</a:t>
            </a:r>
            <a:endParaRPr lang="en-US" sz="1100" dirty="0"/>
          </a:p>
        </p:txBody>
      </p:sp>
      <p:sp>
        <p:nvSpPr>
          <p:cNvPr id="7" name="s11-rule"/>
          <p:cNvSpPr/>
          <p:nvPr/>
        </p:nvSpPr>
        <p:spPr>
          <a:xfrm>
            <a:off x="5778459" y="2794041"/>
            <a:ext cx="0" cy="1270010"/>
          </a:xfrm>
          <a:prstGeom prst="line">
            <a:avLst/>
          </a:prstGeom>
          <a:noFill/>
          <a:ln w="952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8" name="s11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9" name="s11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11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1" name="s11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11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3" name="s11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11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5" name="s11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11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7" name="s11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11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19" name="s11-halo"/>
          <p:cNvSpPr/>
          <p:nvPr/>
        </p:nvSpPr>
        <p:spPr>
          <a:xfrm>
            <a:off x="818516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0" name="s11-playhead"/>
          <p:cNvSpPr/>
          <p:nvPr/>
        </p:nvSpPr>
        <p:spPr>
          <a:xfrm>
            <a:off x="822960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2-nti"/>
          <p:cNvSpPr txBox="1"/>
          <p:nvPr/>
        </p:nvSpPr>
        <p:spPr>
          <a:xfrm>
            <a:off x="1015990" y="2222541"/>
            <a:ext cx="69850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NATIONAL TELECOMMUNICATION</a:t>
            </a:r>
            <a:endParaRPr lang="en-US" sz="11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INSTITUTE</a:t>
            </a:r>
            <a:endParaRPr lang="en-US" sz="1100" dirty="0"/>
          </a:p>
        </p:txBody>
      </p:sp>
      <p:sp>
        <p:nvSpPr>
          <p:cNvPr id="4" name="s12-trainee"/>
          <p:cNvSpPr txBox="1"/>
          <p:nvPr/>
        </p:nvSpPr>
        <p:spPr>
          <a:xfrm>
            <a:off x="1015990" y="2794041"/>
            <a:ext cx="3937041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From trainee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to machine-learning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instructor.</a:t>
            </a:r>
            <a:endParaRPr lang="en-US" sz="2200" dirty="0"/>
          </a:p>
        </p:txBody>
      </p:sp>
      <p:sp>
        <p:nvSpPr>
          <p:cNvPr id="5" name="s12-hours"/>
          <p:cNvSpPr txBox="1"/>
          <p:nvPr/>
        </p:nvSpPr>
        <p:spPr>
          <a:xfrm>
            <a:off x="1015990" y="4000500"/>
            <a:ext cx="6985010" cy="30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300+ hours · 100+ students</a:t>
            </a:r>
            <a:endParaRPr lang="en-US" sz="1700" dirty="0"/>
          </a:p>
        </p:txBody>
      </p:sp>
      <p:pic>
        <p:nvPicPr>
          <p:cNvPr id="6" name="s12-microsoft" descr="D:\Projects Until 2024\my website\v2\MahmoudAlyosifySite.github.io\intro-video\deck\assets\microsoft.jpg">    </p:cNvPr>
          <p:cNvPicPr>
            <a:picLocks noChangeAspect="1"/>
          </p:cNvPicPr>
          <p:nvPr/>
        </p:nvPicPr>
        <p:blipFill>
          <a:blip r:embed="rId1"/>
          <a:srcRect l="1961" t="4118" r="0" b="118"/>
          <a:stretch>
            <a:fillRect/>
          </a:stretch>
        </p:blipFill>
        <p:spPr>
          <a:xfrm>
            <a:off x="5080041" y="2286000"/>
            <a:ext cx="3429000" cy="228600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pic>
        <p:nvPicPr>
          <p:cNvPr id="7" name="s12-building" descr="D:\Projects Until 2024\my website\v2\MahmoudAlyosifySite.github.io\intro-video\deck\assets\nti.jpg">    </p:cNvPr>
          <p:cNvPicPr>
            <a:picLocks noChangeAspect="1"/>
          </p:cNvPicPr>
          <p:nvPr/>
        </p:nvPicPr>
        <p:blipFill>
          <a:blip r:embed="rId2"/>
          <a:srcRect l="21154" t="0" r="21154" b="0"/>
          <a:stretch>
            <a:fillRect/>
          </a:stretch>
        </p:blipFill>
        <p:spPr>
          <a:xfrm>
            <a:off x="8635959" y="1777959"/>
            <a:ext cx="2540020" cy="330199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8" name="s12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9" name="s12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12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11" name="s12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12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3" name="s12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12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5" name="s12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12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7" name="s12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12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19" name="s12-halo"/>
          <p:cNvSpPr/>
          <p:nvPr/>
        </p:nvSpPr>
        <p:spPr>
          <a:xfrm>
            <a:off x="818516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20" name="s12-playhead"/>
          <p:cNvSpPr/>
          <p:nvPr/>
        </p:nvSpPr>
        <p:spPr>
          <a:xfrm>
            <a:off x="822960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3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13-lab" descr="D:\Projects Until 2024\my website\v2\MahmoudAlyosifySite.github.io\intro-video\deck\assets\lab.jpg">    </p:cNvPr>
          <p:cNvPicPr>
            <a:picLocks noChangeAspect="1"/>
          </p:cNvPicPr>
          <p:nvPr/>
        </p:nvPicPr>
        <p:blipFill>
          <a:blip r:embed="rId1"/>
          <a:srcRect l="2778" t="0" r="2778" b="0"/>
          <a:stretch>
            <a:fillRect/>
          </a:stretch>
        </p:blipFill>
        <p:spPr>
          <a:xfrm>
            <a:off x="5715000" y="0"/>
            <a:ext cx="6476970" cy="6858000"/>
          </a:xfrm>
          <a:prstGeom prst="rect">
            <a:avLst/>
          </a:prstGeom>
        </p:spPr>
      </p:pic>
      <p:pic>
        <p:nvPicPr>
          <p:cNvPr id="4" name="s13-edge" descr="D:\Projects Until 2024\my website\v2\MahmoudAlyosifySite.github.io\intro-video\deck\assets\grad-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0"/>
            <a:ext cx="2031980" cy="6858000"/>
          </a:xfrm>
          <a:prstGeom prst="rect">
            <a:avLst/>
          </a:prstGeom>
        </p:spPr>
      </p:pic>
      <p:sp>
        <p:nvSpPr>
          <p:cNvPr id="5" name="s13-builds"/>
          <p:cNvSpPr txBox="1"/>
          <p:nvPr/>
        </p:nvSpPr>
        <p:spPr>
          <a:xfrm>
            <a:off x="1015990" y="2667030"/>
            <a:ext cx="482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He builds</a:t>
            </a:r>
            <a:endParaRPr lang="en-US" sz="3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intelligent systems.</a:t>
            </a:r>
            <a:endParaRPr lang="en-US" sz="3600" dirty="0"/>
          </a:p>
        </p:txBody>
      </p:sp>
      <p:sp>
        <p:nvSpPr>
          <p:cNvPr id="6" name="s13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7" name="s13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13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9" name="s13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13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11" name="s13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13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13" name="s13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13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15" name="s13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13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17" name="s13-halo"/>
          <p:cNvSpPr/>
          <p:nvPr/>
        </p:nvSpPr>
        <p:spPr>
          <a:xfrm>
            <a:off x="818516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18" name="s13-playhead"/>
          <p:cNvSpPr/>
          <p:nvPr/>
        </p:nvSpPr>
        <p:spPr>
          <a:xfrm>
            <a:off x="822960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4-edges1"/>
          <p:cNvSpPr/>
          <p:nvPr/>
        </p:nvSpPr>
        <p:spPr>
          <a:xfrm>
            <a:off x="2410267" y="2197303"/>
            <a:ext cx="2870484" cy="3044312"/>
          </a:xfrm>
          <a:custGeom>
            <a:avLst/>
            <a:gdLst/>
            <a:ahLst/>
            <a:cxnLst/>
            <a:rect l="l" t="t" r="r" b="b"/>
            <a:pathLst>
              <a:path w="2870484" h="3044312">
                <a:moveTo>
                  <a:pt x="198516" y="18837"/>
                </a:moveTo>
                <a:lnTo>
                  <a:pt x="2761671" y="0"/>
                </a:lnTo>
                <a:moveTo>
                  <a:pt x="198516" y="18837"/>
                </a:moveTo>
                <a:lnTo>
                  <a:pt x="2774472" y="449885"/>
                </a:lnTo>
                <a:moveTo>
                  <a:pt x="198516" y="18837"/>
                </a:moveTo>
                <a:lnTo>
                  <a:pt x="2870484" y="776234"/>
                </a:lnTo>
                <a:moveTo>
                  <a:pt x="198516" y="18837"/>
                </a:moveTo>
                <a:lnTo>
                  <a:pt x="2813334" y="1224839"/>
                </a:lnTo>
                <a:moveTo>
                  <a:pt x="198516" y="18837"/>
                </a:moveTo>
                <a:lnTo>
                  <a:pt x="2843875" y="1719712"/>
                </a:lnTo>
                <a:moveTo>
                  <a:pt x="198516" y="18837"/>
                </a:moveTo>
                <a:lnTo>
                  <a:pt x="2736982" y="2083095"/>
                </a:lnTo>
                <a:moveTo>
                  <a:pt x="198516" y="18837"/>
                </a:moveTo>
                <a:lnTo>
                  <a:pt x="2673706" y="2657886"/>
                </a:lnTo>
                <a:moveTo>
                  <a:pt x="198516" y="18837"/>
                </a:moveTo>
                <a:lnTo>
                  <a:pt x="2709459" y="3044312"/>
                </a:lnTo>
                <a:moveTo>
                  <a:pt x="230520" y="884499"/>
                </a:moveTo>
                <a:lnTo>
                  <a:pt x="2761671" y="0"/>
                </a:lnTo>
                <a:moveTo>
                  <a:pt x="230520" y="884499"/>
                </a:moveTo>
                <a:lnTo>
                  <a:pt x="2774472" y="449885"/>
                </a:lnTo>
                <a:moveTo>
                  <a:pt x="230520" y="884499"/>
                </a:moveTo>
                <a:lnTo>
                  <a:pt x="2870484" y="776234"/>
                </a:lnTo>
                <a:moveTo>
                  <a:pt x="230520" y="884499"/>
                </a:moveTo>
                <a:lnTo>
                  <a:pt x="2813334" y="1224839"/>
                </a:lnTo>
                <a:moveTo>
                  <a:pt x="230520" y="884499"/>
                </a:moveTo>
                <a:lnTo>
                  <a:pt x="2843875" y="1719712"/>
                </a:lnTo>
                <a:moveTo>
                  <a:pt x="230520" y="884499"/>
                </a:moveTo>
                <a:lnTo>
                  <a:pt x="2736982" y="2083095"/>
                </a:lnTo>
                <a:moveTo>
                  <a:pt x="230520" y="884499"/>
                </a:moveTo>
                <a:lnTo>
                  <a:pt x="2673706" y="2657886"/>
                </a:lnTo>
                <a:moveTo>
                  <a:pt x="230520" y="884499"/>
                </a:moveTo>
                <a:lnTo>
                  <a:pt x="2709459" y="3044312"/>
                </a:lnTo>
                <a:moveTo>
                  <a:pt x="0" y="1910273"/>
                </a:moveTo>
                <a:lnTo>
                  <a:pt x="2761671" y="0"/>
                </a:lnTo>
                <a:moveTo>
                  <a:pt x="0" y="1910273"/>
                </a:moveTo>
                <a:lnTo>
                  <a:pt x="2774472" y="449885"/>
                </a:lnTo>
                <a:moveTo>
                  <a:pt x="0" y="1910273"/>
                </a:moveTo>
                <a:lnTo>
                  <a:pt x="2870484" y="776234"/>
                </a:lnTo>
                <a:moveTo>
                  <a:pt x="0" y="1910273"/>
                </a:moveTo>
                <a:lnTo>
                  <a:pt x="2813334" y="1224839"/>
                </a:lnTo>
                <a:moveTo>
                  <a:pt x="0" y="1910273"/>
                </a:moveTo>
                <a:lnTo>
                  <a:pt x="2843875" y="1719712"/>
                </a:lnTo>
                <a:moveTo>
                  <a:pt x="0" y="1910273"/>
                </a:moveTo>
                <a:lnTo>
                  <a:pt x="2736982" y="2083095"/>
                </a:lnTo>
                <a:moveTo>
                  <a:pt x="0" y="1910273"/>
                </a:moveTo>
                <a:lnTo>
                  <a:pt x="2673706" y="2657886"/>
                </a:lnTo>
                <a:moveTo>
                  <a:pt x="0" y="1910273"/>
                </a:moveTo>
                <a:lnTo>
                  <a:pt x="2709459" y="3044312"/>
                </a:lnTo>
                <a:moveTo>
                  <a:pt x="56784" y="2965308"/>
                </a:moveTo>
                <a:lnTo>
                  <a:pt x="2761671" y="0"/>
                </a:lnTo>
                <a:moveTo>
                  <a:pt x="56784" y="2965308"/>
                </a:moveTo>
                <a:lnTo>
                  <a:pt x="2774472" y="449885"/>
                </a:lnTo>
                <a:moveTo>
                  <a:pt x="56784" y="2965308"/>
                </a:moveTo>
                <a:lnTo>
                  <a:pt x="2870484" y="776234"/>
                </a:lnTo>
                <a:moveTo>
                  <a:pt x="56784" y="2965308"/>
                </a:moveTo>
                <a:lnTo>
                  <a:pt x="2813334" y="1224839"/>
                </a:lnTo>
                <a:moveTo>
                  <a:pt x="56784" y="2965308"/>
                </a:moveTo>
                <a:lnTo>
                  <a:pt x="2843875" y="1719712"/>
                </a:lnTo>
                <a:moveTo>
                  <a:pt x="56784" y="2965308"/>
                </a:moveTo>
                <a:lnTo>
                  <a:pt x="2736982" y="2083095"/>
                </a:lnTo>
                <a:moveTo>
                  <a:pt x="56784" y="2965308"/>
                </a:moveTo>
                <a:lnTo>
                  <a:pt x="2673706" y="2657886"/>
                </a:lnTo>
                <a:moveTo>
                  <a:pt x="56784" y="2965308"/>
                </a:moveTo>
                <a:lnTo>
                  <a:pt x="2709459" y="3044312"/>
                </a:lnTo>
              </a:path>
            </a:pathLst>
          </a:custGeom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s14-edges2"/>
          <p:cNvSpPr/>
          <p:nvPr/>
        </p:nvSpPr>
        <p:spPr>
          <a:xfrm>
            <a:off x="5083973" y="2095530"/>
            <a:ext cx="2892704" cy="3146085"/>
          </a:xfrm>
          <a:custGeom>
            <a:avLst/>
            <a:gdLst/>
            <a:ahLst/>
            <a:cxnLst/>
            <a:rect l="l" t="t" r="r" b="b"/>
            <a:pathLst>
              <a:path w="2892704" h="3146085">
                <a:moveTo>
                  <a:pt x="87965" y="101773"/>
                </a:moveTo>
                <a:lnTo>
                  <a:pt x="2892704" y="0"/>
                </a:lnTo>
                <a:moveTo>
                  <a:pt x="87965" y="101773"/>
                </a:moveTo>
                <a:lnTo>
                  <a:pt x="2838846" y="622341"/>
                </a:lnTo>
                <a:moveTo>
                  <a:pt x="87965" y="101773"/>
                </a:moveTo>
                <a:lnTo>
                  <a:pt x="2647005" y="1244590"/>
                </a:lnTo>
                <a:moveTo>
                  <a:pt x="87965" y="101773"/>
                </a:moveTo>
                <a:lnTo>
                  <a:pt x="2655509" y="1866930"/>
                </a:lnTo>
                <a:moveTo>
                  <a:pt x="87965" y="101773"/>
                </a:moveTo>
                <a:lnTo>
                  <a:pt x="2651394" y="2489180"/>
                </a:lnTo>
                <a:moveTo>
                  <a:pt x="87965" y="101773"/>
                </a:moveTo>
                <a:lnTo>
                  <a:pt x="2773924" y="3111520"/>
                </a:lnTo>
                <a:moveTo>
                  <a:pt x="100767" y="551658"/>
                </a:moveTo>
                <a:lnTo>
                  <a:pt x="2892704" y="0"/>
                </a:lnTo>
                <a:moveTo>
                  <a:pt x="100767" y="551658"/>
                </a:moveTo>
                <a:lnTo>
                  <a:pt x="2838846" y="622341"/>
                </a:lnTo>
                <a:moveTo>
                  <a:pt x="100767" y="551658"/>
                </a:moveTo>
                <a:lnTo>
                  <a:pt x="2647005" y="1244590"/>
                </a:lnTo>
                <a:moveTo>
                  <a:pt x="100767" y="551658"/>
                </a:moveTo>
                <a:lnTo>
                  <a:pt x="2655509" y="1866930"/>
                </a:lnTo>
                <a:moveTo>
                  <a:pt x="100767" y="551658"/>
                </a:moveTo>
                <a:lnTo>
                  <a:pt x="2651394" y="2489180"/>
                </a:lnTo>
                <a:moveTo>
                  <a:pt x="100767" y="551658"/>
                </a:moveTo>
                <a:lnTo>
                  <a:pt x="2773924" y="3111520"/>
                </a:lnTo>
                <a:moveTo>
                  <a:pt x="196779" y="878007"/>
                </a:moveTo>
                <a:lnTo>
                  <a:pt x="2892704" y="0"/>
                </a:lnTo>
                <a:moveTo>
                  <a:pt x="196779" y="878007"/>
                </a:moveTo>
                <a:lnTo>
                  <a:pt x="2838846" y="622341"/>
                </a:lnTo>
                <a:moveTo>
                  <a:pt x="196779" y="878007"/>
                </a:moveTo>
                <a:lnTo>
                  <a:pt x="2647005" y="1244590"/>
                </a:lnTo>
                <a:moveTo>
                  <a:pt x="196779" y="878007"/>
                </a:moveTo>
                <a:lnTo>
                  <a:pt x="2655509" y="1866930"/>
                </a:lnTo>
                <a:moveTo>
                  <a:pt x="196779" y="878007"/>
                </a:moveTo>
                <a:lnTo>
                  <a:pt x="2651394" y="2489180"/>
                </a:lnTo>
                <a:moveTo>
                  <a:pt x="196779" y="878007"/>
                </a:moveTo>
                <a:lnTo>
                  <a:pt x="2773924" y="3111520"/>
                </a:lnTo>
                <a:moveTo>
                  <a:pt x="139629" y="1326520"/>
                </a:moveTo>
                <a:lnTo>
                  <a:pt x="2892704" y="0"/>
                </a:lnTo>
                <a:moveTo>
                  <a:pt x="139629" y="1326520"/>
                </a:moveTo>
                <a:lnTo>
                  <a:pt x="2838846" y="622341"/>
                </a:lnTo>
                <a:moveTo>
                  <a:pt x="139629" y="1326520"/>
                </a:moveTo>
                <a:lnTo>
                  <a:pt x="2647005" y="1244590"/>
                </a:lnTo>
                <a:moveTo>
                  <a:pt x="139629" y="1326520"/>
                </a:moveTo>
                <a:lnTo>
                  <a:pt x="2655509" y="1866930"/>
                </a:lnTo>
                <a:moveTo>
                  <a:pt x="139629" y="1326520"/>
                </a:moveTo>
                <a:lnTo>
                  <a:pt x="2651394" y="2489180"/>
                </a:lnTo>
                <a:moveTo>
                  <a:pt x="139629" y="1326520"/>
                </a:moveTo>
                <a:lnTo>
                  <a:pt x="2773924" y="3111520"/>
                </a:lnTo>
                <a:moveTo>
                  <a:pt x="170170" y="1821485"/>
                </a:moveTo>
                <a:lnTo>
                  <a:pt x="2892704" y="0"/>
                </a:lnTo>
                <a:moveTo>
                  <a:pt x="170170" y="1821485"/>
                </a:moveTo>
                <a:lnTo>
                  <a:pt x="2838846" y="622341"/>
                </a:lnTo>
                <a:moveTo>
                  <a:pt x="170170" y="1821485"/>
                </a:moveTo>
                <a:lnTo>
                  <a:pt x="2647005" y="1244590"/>
                </a:lnTo>
                <a:moveTo>
                  <a:pt x="170170" y="1821485"/>
                </a:moveTo>
                <a:lnTo>
                  <a:pt x="2655509" y="1866930"/>
                </a:lnTo>
                <a:moveTo>
                  <a:pt x="170170" y="1821485"/>
                </a:moveTo>
                <a:lnTo>
                  <a:pt x="2651394" y="2489180"/>
                </a:lnTo>
                <a:moveTo>
                  <a:pt x="170170" y="1821485"/>
                </a:moveTo>
                <a:lnTo>
                  <a:pt x="2773924" y="3111520"/>
                </a:lnTo>
                <a:moveTo>
                  <a:pt x="63276" y="2184867"/>
                </a:moveTo>
                <a:lnTo>
                  <a:pt x="2892704" y="0"/>
                </a:lnTo>
                <a:moveTo>
                  <a:pt x="63276" y="2184867"/>
                </a:moveTo>
                <a:lnTo>
                  <a:pt x="2838846" y="622341"/>
                </a:lnTo>
                <a:moveTo>
                  <a:pt x="63276" y="2184867"/>
                </a:moveTo>
                <a:lnTo>
                  <a:pt x="2647005" y="1244590"/>
                </a:lnTo>
                <a:moveTo>
                  <a:pt x="63276" y="2184867"/>
                </a:moveTo>
                <a:lnTo>
                  <a:pt x="2655509" y="1866930"/>
                </a:lnTo>
                <a:moveTo>
                  <a:pt x="63276" y="2184867"/>
                </a:moveTo>
                <a:lnTo>
                  <a:pt x="2651394" y="2489180"/>
                </a:lnTo>
                <a:moveTo>
                  <a:pt x="63276" y="2184867"/>
                </a:moveTo>
                <a:lnTo>
                  <a:pt x="2773924" y="3111520"/>
                </a:lnTo>
                <a:moveTo>
                  <a:pt x="0" y="2759568"/>
                </a:moveTo>
                <a:lnTo>
                  <a:pt x="2892704" y="0"/>
                </a:lnTo>
                <a:moveTo>
                  <a:pt x="0" y="2759568"/>
                </a:moveTo>
                <a:lnTo>
                  <a:pt x="2838846" y="622341"/>
                </a:lnTo>
                <a:moveTo>
                  <a:pt x="0" y="2759568"/>
                </a:moveTo>
                <a:lnTo>
                  <a:pt x="2647005" y="1244590"/>
                </a:lnTo>
                <a:moveTo>
                  <a:pt x="0" y="2759568"/>
                </a:moveTo>
                <a:lnTo>
                  <a:pt x="2655509" y="1866930"/>
                </a:lnTo>
                <a:moveTo>
                  <a:pt x="0" y="2759568"/>
                </a:moveTo>
                <a:lnTo>
                  <a:pt x="2651394" y="2489180"/>
                </a:lnTo>
                <a:moveTo>
                  <a:pt x="0" y="2759568"/>
                </a:moveTo>
                <a:lnTo>
                  <a:pt x="2773924" y="3111520"/>
                </a:lnTo>
                <a:moveTo>
                  <a:pt x="35753" y="3146085"/>
                </a:moveTo>
                <a:lnTo>
                  <a:pt x="2892704" y="0"/>
                </a:lnTo>
                <a:moveTo>
                  <a:pt x="35753" y="3146085"/>
                </a:moveTo>
                <a:lnTo>
                  <a:pt x="2838846" y="622341"/>
                </a:lnTo>
                <a:moveTo>
                  <a:pt x="35753" y="3146085"/>
                </a:moveTo>
                <a:lnTo>
                  <a:pt x="2647005" y="1244590"/>
                </a:lnTo>
                <a:moveTo>
                  <a:pt x="35753" y="3146085"/>
                </a:moveTo>
                <a:lnTo>
                  <a:pt x="2655509" y="1866930"/>
                </a:lnTo>
                <a:moveTo>
                  <a:pt x="35753" y="3146085"/>
                </a:moveTo>
                <a:lnTo>
                  <a:pt x="2651394" y="2489180"/>
                </a:lnTo>
                <a:moveTo>
                  <a:pt x="35753" y="3146085"/>
                </a:moveTo>
                <a:lnTo>
                  <a:pt x="2773924" y="3111520"/>
                </a:lnTo>
              </a:path>
            </a:pathLst>
          </a:custGeom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5" name="s14-n00"/>
          <p:cNvSpPr/>
          <p:nvPr/>
        </p:nvSpPr>
        <p:spPr>
          <a:xfrm>
            <a:off x="2570744" y="2178009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14-n01"/>
          <p:cNvSpPr/>
          <p:nvPr/>
        </p:nvSpPr>
        <p:spPr>
          <a:xfrm>
            <a:off x="2602748" y="3043672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14-n02"/>
          <p:cNvSpPr/>
          <p:nvPr/>
        </p:nvSpPr>
        <p:spPr>
          <a:xfrm>
            <a:off x="2372228" y="4069446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14-n03"/>
          <p:cNvSpPr/>
          <p:nvPr/>
        </p:nvSpPr>
        <p:spPr>
          <a:xfrm>
            <a:off x="2429012" y="5124480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14-n10"/>
          <p:cNvSpPr/>
          <p:nvPr/>
        </p:nvSpPr>
        <p:spPr>
          <a:xfrm>
            <a:off x="5133807" y="2159173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14-n11"/>
          <p:cNvSpPr/>
          <p:nvPr/>
        </p:nvSpPr>
        <p:spPr>
          <a:xfrm>
            <a:off x="5146700" y="2609058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14-n12"/>
          <p:cNvSpPr/>
          <p:nvPr/>
        </p:nvSpPr>
        <p:spPr>
          <a:xfrm>
            <a:off x="5242712" y="2935407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14-n13"/>
          <p:cNvSpPr/>
          <p:nvPr/>
        </p:nvSpPr>
        <p:spPr>
          <a:xfrm>
            <a:off x="5185562" y="3383920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14-n14"/>
          <p:cNvSpPr/>
          <p:nvPr/>
        </p:nvSpPr>
        <p:spPr>
          <a:xfrm>
            <a:off x="5216012" y="3878885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14-n15"/>
          <p:cNvSpPr/>
          <p:nvPr/>
        </p:nvSpPr>
        <p:spPr>
          <a:xfrm>
            <a:off x="5109210" y="4242267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14-n16"/>
          <p:cNvSpPr/>
          <p:nvPr/>
        </p:nvSpPr>
        <p:spPr>
          <a:xfrm>
            <a:off x="5045934" y="4816968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14-n17"/>
          <p:cNvSpPr/>
          <p:nvPr/>
        </p:nvSpPr>
        <p:spPr>
          <a:xfrm>
            <a:off x="5081595" y="5203485"/>
            <a:ext cx="76170" cy="7617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14-n20"/>
          <p:cNvSpPr/>
          <p:nvPr/>
        </p:nvSpPr>
        <p:spPr>
          <a:xfrm>
            <a:off x="7938546" y="2057400"/>
            <a:ext cx="76170" cy="7617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14-p0"/>
          <p:cNvSpPr txBox="1"/>
          <p:nvPr/>
        </p:nvSpPr>
        <p:spPr>
          <a:xfrm>
            <a:off x="8141818" y="2000250"/>
            <a:ext cx="330199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AUDIOSHIELD</a:t>
            </a:r>
            <a:endParaRPr lang="en-US" sz="1200" dirty="0"/>
          </a:p>
        </p:txBody>
      </p:sp>
      <p:sp>
        <p:nvSpPr>
          <p:cNvPr id="19" name="s14-n21"/>
          <p:cNvSpPr/>
          <p:nvPr/>
        </p:nvSpPr>
        <p:spPr>
          <a:xfrm>
            <a:off x="7884780" y="2679741"/>
            <a:ext cx="76170" cy="7617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14-p1"/>
          <p:cNvSpPr txBox="1"/>
          <p:nvPr/>
        </p:nvSpPr>
        <p:spPr>
          <a:xfrm>
            <a:off x="8087959" y="2622591"/>
            <a:ext cx="330199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SIMCLR-VISION-SSL</a:t>
            </a:r>
            <a:endParaRPr lang="en-US" sz="1200" dirty="0"/>
          </a:p>
        </p:txBody>
      </p:sp>
      <p:sp>
        <p:nvSpPr>
          <p:cNvPr id="21" name="s14-n22"/>
          <p:cNvSpPr/>
          <p:nvPr/>
        </p:nvSpPr>
        <p:spPr>
          <a:xfrm>
            <a:off x="7692939" y="3301990"/>
            <a:ext cx="76170" cy="7617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14-p2"/>
          <p:cNvSpPr txBox="1"/>
          <p:nvPr/>
        </p:nvSpPr>
        <p:spPr>
          <a:xfrm>
            <a:off x="7896118" y="3244840"/>
            <a:ext cx="330199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SCRAP</a:t>
            </a:r>
            <a:endParaRPr lang="en-US" sz="1200" dirty="0"/>
          </a:p>
        </p:txBody>
      </p:sp>
      <p:sp>
        <p:nvSpPr>
          <p:cNvPr id="23" name="s14-n23"/>
          <p:cNvSpPr/>
          <p:nvPr/>
        </p:nvSpPr>
        <p:spPr>
          <a:xfrm>
            <a:off x="7701443" y="3924330"/>
            <a:ext cx="76170" cy="7617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14-p3"/>
          <p:cNvSpPr txBox="1"/>
          <p:nvPr/>
        </p:nvSpPr>
        <p:spPr>
          <a:xfrm>
            <a:off x="7904622" y="3867180"/>
            <a:ext cx="330199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HORUS-OSINT</a:t>
            </a:r>
            <a:endParaRPr lang="en-US" sz="1200" dirty="0"/>
          </a:p>
        </p:txBody>
      </p:sp>
      <p:sp>
        <p:nvSpPr>
          <p:cNvPr id="25" name="s14-n24"/>
          <p:cNvSpPr/>
          <p:nvPr/>
        </p:nvSpPr>
        <p:spPr>
          <a:xfrm>
            <a:off x="7697328" y="4546580"/>
            <a:ext cx="76170" cy="7617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14-p4"/>
          <p:cNvSpPr txBox="1"/>
          <p:nvPr/>
        </p:nvSpPr>
        <p:spPr>
          <a:xfrm>
            <a:off x="7900507" y="4489430"/>
            <a:ext cx="330199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HORUS SENTINEL</a:t>
            </a:r>
            <a:endParaRPr lang="en-US" sz="1200" dirty="0"/>
          </a:p>
        </p:txBody>
      </p:sp>
      <p:sp>
        <p:nvSpPr>
          <p:cNvPr id="27" name="s14-n25"/>
          <p:cNvSpPr/>
          <p:nvPr/>
        </p:nvSpPr>
        <p:spPr>
          <a:xfrm>
            <a:off x="7819766" y="5168920"/>
            <a:ext cx="76170" cy="7617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14-p5"/>
          <p:cNvSpPr txBox="1"/>
          <p:nvPr/>
        </p:nvSpPr>
        <p:spPr>
          <a:xfrm>
            <a:off x="8022946" y="5111770"/>
            <a:ext cx="330199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RL-CLOUD-AUTOSCALER</a:t>
            </a:r>
            <a:endParaRPr lang="en-US" sz="1200" dirty="0"/>
          </a:p>
        </p:txBody>
      </p:sp>
      <p:sp>
        <p:nvSpPr>
          <p:cNvPr id="29" name="s14-fields"/>
          <p:cNvSpPr txBox="1"/>
          <p:nvPr/>
        </p:nvSpPr>
        <p:spPr>
          <a:xfrm>
            <a:off x="1968520" y="5587990"/>
            <a:ext cx="8255020" cy="30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LLMs · Agents · Computer Vision · Reinforcement Learning</a:t>
            </a:r>
            <a:endParaRPr lang="en-US" sz="1700" dirty="0"/>
          </a:p>
        </p:txBody>
      </p:sp>
      <p:sp>
        <p:nvSpPr>
          <p:cNvPr id="30" name="s14-thread"/>
          <p:cNvSpPr/>
          <p:nvPr/>
        </p:nvSpPr>
        <p:spPr>
          <a:xfrm>
            <a:off x="1015990" y="6349959"/>
            <a:ext cx="10159990" cy="0"/>
          </a:xfrm>
          <a:prstGeom prst="line">
            <a:avLst/>
          </a:prstGeom>
          <a:noFill/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31" name="s14-node2000"/>
          <p:cNvSpPr/>
          <p:nvPr/>
        </p:nvSpPr>
        <p:spPr>
          <a:xfrm>
            <a:off x="1365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s14-year2000"/>
          <p:cNvSpPr txBox="1"/>
          <p:nvPr/>
        </p:nvSpPr>
        <p:spPr>
          <a:xfrm>
            <a:off x="1015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2000</a:t>
            </a:r>
            <a:endParaRPr lang="en-US" sz="1000" dirty="0"/>
          </a:p>
        </p:txBody>
      </p:sp>
      <p:sp>
        <p:nvSpPr>
          <p:cNvPr id="33" name="s14-node2019"/>
          <p:cNvSpPr/>
          <p:nvPr/>
        </p:nvSpPr>
        <p:spPr>
          <a:xfrm>
            <a:off x="352428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s14-year2019"/>
          <p:cNvSpPr txBox="1"/>
          <p:nvPr/>
        </p:nvSpPr>
        <p:spPr>
          <a:xfrm>
            <a:off x="317498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2019</a:t>
            </a:r>
            <a:endParaRPr lang="en-US" sz="1000" dirty="0"/>
          </a:p>
        </p:txBody>
      </p:sp>
      <p:sp>
        <p:nvSpPr>
          <p:cNvPr id="35" name="s14-node2023"/>
          <p:cNvSpPr/>
          <p:nvPr/>
        </p:nvSpPr>
        <p:spPr>
          <a:xfrm>
            <a:off x="568327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s14-year2023"/>
          <p:cNvSpPr txBox="1"/>
          <p:nvPr/>
        </p:nvSpPr>
        <p:spPr>
          <a:xfrm>
            <a:off x="533397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2023</a:t>
            </a:r>
            <a:endParaRPr lang="en-US" sz="1000" dirty="0"/>
          </a:p>
        </p:txBody>
      </p:sp>
      <p:sp>
        <p:nvSpPr>
          <p:cNvPr id="37" name="s14-node2025"/>
          <p:cNvSpPr/>
          <p:nvPr/>
        </p:nvSpPr>
        <p:spPr>
          <a:xfrm>
            <a:off x="8223291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s14-year2025"/>
          <p:cNvSpPr txBox="1"/>
          <p:nvPr/>
        </p:nvSpPr>
        <p:spPr>
          <a:xfrm>
            <a:off x="787399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2025</a:t>
            </a:r>
            <a:endParaRPr lang="en-US" sz="1000" dirty="0"/>
          </a:p>
        </p:txBody>
      </p:sp>
      <p:sp>
        <p:nvSpPr>
          <p:cNvPr id="39" name="s14-node2026"/>
          <p:cNvSpPr/>
          <p:nvPr/>
        </p:nvSpPr>
        <p:spPr>
          <a:xfrm>
            <a:off x="10763220" y="6318230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s14-year2026"/>
          <p:cNvSpPr txBox="1"/>
          <p:nvPr/>
        </p:nvSpPr>
        <p:spPr>
          <a:xfrm>
            <a:off x="10414010" y="643893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2026</a:t>
            </a:r>
            <a:endParaRPr lang="en-US" sz="1000" dirty="0"/>
          </a:p>
        </p:txBody>
      </p:sp>
      <p:sp>
        <p:nvSpPr>
          <p:cNvPr id="41" name="s14-halo"/>
          <p:cNvSpPr/>
          <p:nvPr/>
        </p:nvSpPr>
        <p:spPr>
          <a:xfrm>
            <a:off x="8185160" y="6280191"/>
            <a:ext cx="139720" cy="1397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42" name="s14-playhead"/>
          <p:cNvSpPr/>
          <p:nvPr/>
        </p:nvSpPr>
        <p:spPr>
          <a:xfrm>
            <a:off x="8229600" y="6324630"/>
            <a:ext cx="50841" cy="50841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  <p:transition spd="slow"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15-world" descr="D:\Projects Until 2024\my website\v2\MahmoudAlyosifySite.github.io\intro-video\deck\assets\world-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pic>
        <p:nvPicPr>
          <p:cNvPr id="4" name="s15-shade" descr="D:\Projects Until 2024\my website\v2\MahmoudAlyosifySite.github.io\intro-video\deck\assets\shade-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10"/>
            <a:ext cx="8255020" cy="3301990"/>
          </a:xfrm>
          <a:prstGeom prst="rect">
            <a:avLst/>
          </a:prstGeom>
        </p:spPr>
      </p:pic>
      <p:sp>
        <p:nvSpPr>
          <p:cNvPr id="5" name="s15-arc"/>
          <p:cNvSpPr/>
          <p:nvPr/>
        </p:nvSpPr>
        <p:spPr>
          <a:xfrm>
            <a:off x="2331811" y="2229216"/>
            <a:ext cx="7520757" cy="1815907"/>
          </a:xfrm>
          <a:custGeom>
            <a:avLst/>
            <a:gdLst/>
            <a:ahLst/>
            <a:cxnLst/>
            <a:rect l="l" t="t" r="r" b="b"/>
            <a:pathLst>
              <a:path w="7520757" h="1815907">
                <a:moveTo>
                  <a:pt x="7520757" y="1815907"/>
                </a:moveTo>
                <a:lnTo>
                  <a:pt x="7364029" y="1697858"/>
                </a:lnTo>
                <a:lnTo>
                  <a:pt x="7207392" y="1583741"/>
                </a:lnTo>
                <a:lnTo>
                  <a:pt x="7050664" y="1473556"/>
                </a:lnTo>
                <a:lnTo>
                  <a:pt x="6894027" y="1367394"/>
                </a:lnTo>
                <a:lnTo>
                  <a:pt x="6737299" y="1265164"/>
                </a:lnTo>
                <a:lnTo>
                  <a:pt x="6580662" y="1166957"/>
                </a:lnTo>
                <a:lnTo>
                  <a:pt x="6423934" y="1072683"/>
                </a:lnTo>
                <a:lnTo>
                  <a:pt x="6267298" y="982431"/>
                </a:lnTo>
                <a:lnTo>
                  <a:pt x="6110569" y="896112"/>
                </a:lnTo>
                <a:lnTo>
                  <a:pt x="5953933" y="813725"/>
                </a:lnTo>
                <a:lnTo>
                  <a:pt x="5797205" y="735360"/>
                </a:lnTo>
                <a:lnTo>
                  <a:pt x="5640568" y="660928"/>
                </a:lnTo>
                <a:lnTo>
                  <a:pt x="5483840" y="590428"/>
                </a:lnTo>
                <a:lnTo>
                  <a:pt x="5327203" y="523951"/>
                </a:lnTo>
                <a:lnTo>
                  <a:pt x="5170475" y="461498"/>
                </a:lnTo>
                <a:lnTo>
                  <a:pt x="5013838" y="402885"/>
                </a:lnTo>
                <a:lnTo>
                  <a:pt x="4857110" y="348386"/>
                </a:lnTo>
                <a:lnTo>
                  <a:pt x="4700473" y="297729"/>
                </a:lnTo>
                <a:lnTo>
                  <a:pt x="4543745" y="251094"/>
                </a:lnTo>
                <a:lnTo>
                  <a:pt x="4387108" y="208392"/>
                </a:lnTo>
                <a:lnTo>
                  <a:pt x="4230380" y="169713"/>
                </a:lnTo>
                <a:lnTo>
                  <a:pt x="4073743" y="134965"/>
                </a:lnTo>
                <a:lnTo>
                  <a:pt x="3917015" y="104242"/>
                </a:lnTo>
                <a:lnTo>
                  <a:pt x="3760379" y="77450"/>
                </a:lnTo>
                <a:lnTo>
                  <a:pt x="3603650" y="54590"/>
                </a:lnTo>
                <a:lnTo>
                  <a:pt x="3447014" y="35753"/>
                </a:lnTo>
                <a:lnTo>
                  <a:pt x="3290286" y="20848"/>
                </a:lnTo>
                <a:lnTo>
                  <a:pt x="3133649" y="9967"/>
                </a:lnTo>
                <a:lnTo>
                  <a:pt x="2976921" y="3018"/>
                </a:lnTo>
                <a:lnTo>
                  <a:pt x="2820284" y="0"/>
                </a:lnTo>
                <a:lnTo>
                  <a:pt x="2663556" y="1006"/>
                </a:lnTo>
                <a:lnTo>
                  <a:pt x="2506919" y="5944"/>
                </a:lnTo>
                <a:lnTo>
                  <a:pt x="2350191" y="14905"/>
                </a:lnTo>
                <a:lnTo>
                  <a:pt x="2193554" y="27798"/>
                </a:lnTo>
                <a:lnTo>
                  <a:pt x="2036826" y="44623"/>
                </a:lnTo>
                <a:lnTo>
                  <a:pt x="1880189" y="65471"/>
                </a:lnTo>
                <a:lnTo>
                  <a:pt x="1723461" y="90251"/>
                </a:lnTo>
                <a:lnTo>
                  <a:pt x="1566824" y="119055"/>
                </a:lnTo>
                <a:lnTo>
                  <a:pt x="1410096" y="151790"/>
                </a:lnTo>
                <a:lnTo>
                  <a:pt x="1253460" y="188458"/>
                </a:lnTo>
                <a:lnTo>
                  <a:pt x="1096731" y="229149"/>
                </a:lnTo>
                <a:lnTo>
                  <a:pt x="940095" y="273771"/>
                </a:lnTo>
                <a:lnTo>
                  <a:pt x="783366" y="322417"/>
                </a:lnTo>
                <a:lnTo>
                  <a:pt x="626730" y="374995"/>
                </a:lnTo>
                <a:lnTo>
                  <a:pt x="470002" y="431505"/>
                </a:lnTo>
                <a:lnTo>
                  <a:pt x="313365" y="492039"/>
                </a:lnTo>
                <a:lnTo>
                  <a:pt x="156637" y="556504"/>
                </a:lnTo>
                <a:lnTo>
                  <a:pt x="0" y="624992"/>
                </a:lnTo>
              </a:path>
            </a:pathLst>
          </a:custGeom>
          <a:ln w="15875">
            <a:solidFill>
              <a:schemeClr val="accent1"/>
            </a:solidFill>
            <a:prstDash val="solid"/>
          </a:ln>
        </p:spPr>
      </p:sp>
      <p:sp>
        <p:nvSpPr>
          <p:cNvPr id="6" name="s15-assiut"/>
          <p:cNvSpPr/>
          <p:nvPr/>
        </p:nvSpPr>
        <p:spPr>
          <a:xfrm>
            <a:off x="9820747" y="4013302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15-kingston"/>
          <p:cNvSpPr/>
          <p:nvPr/>
        </p:nvSpPr>
        <p:spPr>
          <a:xfrm>
            <a:off x="2299990" y="2822387"/>
            <a:ext cx="63459" cy="6345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15-leaf"/>
          <p:cNvSpPr/>
          <p:nvPr/>
        </p:nvSpPr>
        <p:spPr>
          <a:xfrm>
            <a:off x="2068007" y="1838127"/>
            <a:ext cx="527517" cy="571500"/>
          </a:xfrm>
          <a:custGeom>
            <a:avLst/>
            <a:gdLst/>
            <a:ahLst/>
            <a:cxnLst/>
            <a:rect l="l" t="t" r="r" b="b"/>
            <a:pathLst>
              <a:path w="527517" h="571500">
                <a:moveTo>
                  <a:pt x="251003" y="571500"/>
                </a:moveTo>
                <a:lnTo>
                  <a:pt x="257404" y="449153"/>
                </a:lnTo>
                <a:lnTo>
                  <a:pt x="241676" y="435254"/>
                </a:lnTo>
                <a:lnTo>
                  <a:pt x="119786" y="456651"/>
                </a:lnTo>
                <a:lnTo>
                  <a:pt x="136246" y="411297"/>
                </a:lnTo>
                <a:lnTo>
                  <a:pt x="133411" y="400873"/>
                </a:lnTo>
                <a:lnTo>
                  <a:pt x="0" y="292882"/>
                </a:lnTo>
                <a:lnTo>
                  <a:pt x="30084" y="278801"/>
                </a:lnTo>
                <a:lnTo>
                  <a:pt x="34930" y="267553"/>
                </a:lnTo>
                <a:lnTo>
                  <a:pt x="8504" y="186446"/>
                </a:lnTo>
                <a:lnTo>
                  <a:pt x="85405" y="202814"/>
                </a:lnTo>
                <a:lnTo>
                  <a:pt x="95738" y="197419"/>
                </a:lnTo>
                <a:lnTo>
                  <a:pt x="110642" y="162397"/>
                </a:lnTo>
                <a:lnTo>
                  <a:pt x="170627" y="226771"/>
                </a:lnTo>
                <a:lnTo>
                  <a:pt x="186355" y="218633"/>
                </a:lnTo>
                <a:lnTo>
                  <a:pt x="157368" y="69494"/>
                </a:lnTo>
                <a:lnTo>
                  <a:pt x="203820" y="96286"/>
                </a:lnTo>
                <a:lnTo>
                  <a:pt x="216713" y="92446"/>
                </a:lnTo>
                <a:lnTo>
                  <a:pt x="263804" y="0"/>
                </a:lnTo>
                <a:lnTo>
                  <a:pt x="310896" y="92446"/>
                </a:lnTo>
                <a:lnTo>
                  <a:pt x="323789" y="96286"/>
                </a:lnTo>
                <a:lnTo>
                  <a:pt x="370149" y="69494"/>
                </a:lnTo>
                <a:lnTo>
                  <a:pt x="341163" y="218633"/>
                </a:lnTo>
                <a:lnTo>
                  <a:pt x="356982" y="226771"/>
                </a:lnTo>
                <a:lnTo>
                  <a:pt x="416966" y="162397"/>
                </a:lnTo>
                <a:lnTo>
                  <a:pt x="431780" y="197419"/>
                </a:lnTo>
                <a:lnTo>
                  <a:pt x="442204" y="202814"/>
                </a:lnTo>
                <a:lnTo>
                  <a:pt x="519013" y="186446"/>
                </a:lnTo>
                <a:lnTo>
                  <a:pt x="492679" y="267553"/>
                </a:lnTo>
                <a:lnTo>
                  <a:pt x="497434" y="278801"/>
                </a:lnTo>
                <a:lnTo>
                  <a:pt x="527517" y="292882"/>
                </a:lnTo>
                <a:lnTo>
                  <a:pt x="394106" y="400873"/>
                </a:lnTo>
                <a:lnTo>
                  <a:pt x="391272" y="411297"/>
                </a:lnTo>
                <a:lnTo>
                  <a:pt x="407731" y="456651"/>
                </a:lnTo>
                <a:lnTo>
                  <a:pt x="285933" y="435254"/>
                </a:lnTo>
                <a:lnTo>
                  <a:pt x="270114" y="449153"/>
                </a:lnTo>
                <a:lnTo>
                  <a:pt x="276515" y="571500"/>
                </a:lnTo>
                <a:close/>
              </a:path>
            </a:pathLst>
          </a:custGeom>
          <a:ln w="9525">
            <a:solidFill>
              <a:schemeClr val="accent1"/>
            </a:solidFill>
            <a:prstDash val="solid"/>
          </a:ln>
        </p:spPr>
      </p:sp>
      <p:sp>
        <p:nvSpPr>
          <p:cNvPr id="9" name="s15-kingstonLabel"/>
          <p:cNvSpPr txBox="1"/>
          <p:nvPr/>
        </p:nvSpPr>
        <p:spPr>
          <a:xfrm>
            <a:off x="2496861" y="2968417"/>
            <a:ext cx="381003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KINGSTON, ONTARIO</a:t>
            </a:r>
            <a:endParaRPr lang="en-US" sz="1100" dirty="0"/>
          </a:p>
        </p:txBody>
      </p:sp>
      <p:sp>
        <p:nvSpPr>
          <p:cNvPr id="10" name="s15-date"/>
          <p:cNvSpPr txBox="1"/>
          <p:nvPr/>
        </p:nvSpPr>
        <p:spPr>
          <a:xfrm>
            <a:off x="1015990" y="533397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SEPTEMBER 2025</a:t>
            </a:r>
            <a:endParaRPr lang="en-US" sz="1100" dirty="0"/>
          </a:p>
        </p:txBody>
      </p:sp>
      <p:sp>
        <p:nvSpPr>
          <p:cNvPr id="11" name="s15-title"/>
          <p:cNvSpPr txBox="1"/>
          <p:nvPr/>
        </p:nvSpPr>
        <p:spPr>
          <a:xfrm>
            <a:off x="1015990" y="5587990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From Egypt to Canada.</a:t>
            </a:r>
            <a:endParaRPr lang="en-US" sz="3600" dirty="0"/>
          </a:p>
        </p:txBody>
      </p:sp>
    </p:spTree>
  </p:cSld>
  <p:clrMapOvr>
    <a:masterClrMapping/>
  </p:clrMapOvr>
  <p:transition spd="slow" advTm="6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10" grpId="0" animBg="1"/>
      <p:bldP spid="11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16-snow" descr="D:\Projects Until 2024\my website\v2\MahmoudAlyosifySite.github.io\intro-video\deck\assets\queens-snow.jpg">    </p:cNvPr>
          <p:cNvPicPr>
            <a:picLocks noChangeAspect="1"/>
          </p:cNvPicPr>
          <p:nvPr/>
        </p:nvPicPr>
        <p:blipFill>
          <a:blip r:embed="rId1"/>
          <a:srcRect l="25514" t="0" r="1514" b="0"/>
          <a:stretch>
            <a:fillRect/>
          </a:stretch>
        </p:blipFill>
        <p:spPr>
          <a:xfrm>
            <a:off x="5333970" y="0"/>
            <a:ext cx="6858000" cy="6858000"/>
          </a:xfrm>
          <a:prstGeom prst="rect">
            <a:avLst/>
          </a:prstGeom>
        </p:spPr>
      </p:pic>
      <p:pic>
        <p:nvPicPr>
          <p:cNvPr id="4" name="s16-edge" descr="D:\Projects Until 2024\my website\v2\MahmoudAlyosifySite.github.io\intro-video\deck\assets\grad-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70" y="0"/>
            <a:ext cx="1397020" cy="6858000"/>
          </a:xfrm>
          <a:prstGeom prst="rect">
            <a:avLst/>
          </a:prstGeom>
        </p:spPr>
      </p:pic>
      <p:pic>
        <p:nvPicPr>
          <p:cNvPr id="5" name="s16-crest" descr="D:\Projects Until 2024\my website\v2\MahmoudAlyosifySite.github.io\intro-video\deck\assets\queens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30" y="1841510"/>
            <a:ext cx="1397020" cy="1060887"/>
          </a:xfrm>
          <a:prstGeom prst="rect">
            <a:avLst/>
          </a:prstGeom>
        </p:spPr>
      </p:pic>
      <p:sp>
        <p:nvSpPr>
          <p:cNvPr id="6" name="s16-title"/>
          <p:cNvSpPr txBox="1"/>
          <p:nvPr/>
        </p:nvSpPr>
        <p:spPr>
          <a:xfrm>
            <a:off x="1015990" y="3174980"/>
            <a:ext cx="508004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Queen’s University</a:t>
            </a:r>
            <a:endParaRPr lang="en-US" sz="3600" dirty="0"/>
          </a:p>
        </p:txBody>
      </p:sp>
      <p:sp>
        <p:nvSpPr>
          <p:cNvPr id="7" name="s16-msc"/>
          <p:cNvSpPr txBox="1"/>
          <p:nvPr/>
        </p:nvSpPr>
        <p:spPr>
          <a:xfrm>
            <a:off x="1015990" y="3746480"/>
            <a:ext cx="5080041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MSc in Artificial Intelligence</a:t>
            </a:r>
            <a:endParaRPr lang="en-US" sz="2200" dirty="0"/>
          </a:p>
        </p:txBody>
      </p:sp>
      <p:sp>
        <p:nvSpPr>
          <p:cNvPr id="8" name="s16-scholarship"/>
          <p:cNvSpPr txBox="1"/>
          <p:nvPr/>
        </p:nvSpPr>
        <p:spPr>
          <a:xfrm>
            <a:off x="1015990" y="4254520"/>
            <a:ext cx="5080041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DIGILIANS PRESIDENTIAL SCHOLARSHIP</a:t>
            </a:r>
            <a:endParaRPr lang="en-US" sz="1100" dirty="0"/>
          </a:p>
        </p:txBody>
      </p:sp>
      <p:sp>
        <p:nvSpPr>
          <p:cNvPr id="9" name="s16-rule"/>
          <p:cNvSpPr/>
          <p:nvPr/>
        </p:nvSpPr>
        <p:spPr>
          <a:xfrm>
            <a:off x="1015990" y="4508541"/>
            <a:ext cx="190497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17-computing" descr="D:\Projects Until 2024\my website\v2\MahmoudAlyosifySite.github.io\intro-video\deck\assets\computing.jpg">    </p:cNvPr>
          <p:cNvPicPr>
            <a:picLocks noChangeAspect="1"/>
          </p:cNvPicPr>
          <p:nvPr/>
        </p:nvPicPr>
        <p:blipFill>
          <a:blip r:embed="rId1"/>
          <a:srcRect l="6" t="0" r="6" b="0"/>
          <a:stretch>
            <a:fillRect/>
          </a:stretch>
        </p:blipFill>
        <p:spPr>
          <a:xfrm>
            <a:off x="6096030" y="1904970"/>
            <a:ext cx="5333970" cy="297180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4" name="s17-kicker"/>
          <p:cNvSpPr txBox="1"/>
          <p:nvPr/>
        </p:nvSpPr>
        <p:spPr>
          <a:xfrm>
            <a:off x="1015990" y="254002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MSC RESEARCH PROJECT · 2026</a:t>
            </a:r>
            <a:endParaRPr lang="en-US" sz="1100" dirty="0"/>
          </a:p>
        </p:txBody>
      </p:sp>
      <p:sp>
        <p:nvSpPr>
          <p:cNvPr id="5" name="s17-title"/>
          <p:cNvSpPr txBox="1"/>
          <p:nvPr/>
        </p:nvSpPr>
        <p:spPr>
          <a:xfrm>
            <a:off x="1015990" y="2825770"/>
            <a:ext cx="4826020" cy="995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600" dirty="0">
                <a:solidFill>
                  <a:schemeClr val="accent2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MinimalLM</a:t>
            </a:r>
            <a:endParaRPr lang="en-US" sz="5600" dirty="0"/>
          </a:p>
        </p:txBody>
      </p:sp>
      <p:sp>
        <p:nvSpPr>
          <p:cNvPr id="6" name="s17-question"/>
          <p:cNvSpPr txBox="1"/>
          <p:nvPr/>
        </p:nvSpPr>
        <p:spPr>
          <a:xfrm>
            <a:off x="1015990" y="3810030"/>
            <a:ext cx="4953030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Can a language model say less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and lose nothing a reader needs?</a:t>
            </a:r>
            <a:endParaRPr lang="en-US" sz="2400" dirty="0"/>
          </a:p>
        </p:txBody>
      </p:sp>
      <p:pic>
        <p:nvPicPr>
          <p:cNvPr id="7" name="s17-mark" descr="D:\Projects Until 2024\my website\v2\MahmoudAlyosifySite.github.io\intro-video\deck\assets\mar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032" y="3998946"/>
            <a:ext cx="919246" cy="128016"/>
          </a:xfrm>
          <a:prstGeom prst="rect">
            <a:avLst/>
          </a:prstGeom>
        </p:spPr>
      </p:pic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8-t0"/>
          <p:cNvSpPr txBox="1"/>
          <p:nvPr/>
        </p:nvSpPr>
        <p:spPr>
          <a:xfrm>
            <a:off x="1054120" y="3365541"/>
            <a:ext cx="838230" cy="330190"/>
          </a:xfrm>
          <a:prstGeom prst="roundRect">
            <a:avLst>
              <a:gd name="adj" fmla="val 5760"/>
            </a:avLst>
          </a:prstGeom>
          <a:solidFill>
            <a:schemeClr val="accent6"/>
          </a:solidFill>
          <a:ln w="6350">
            <a:solidFill>
              <a:schemeClr val="accent1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Kingston</a:t>
            </a:r>
            <a:endParaRPr lang="en-US" sz="1200" dirty="0"/>
          </a:p>
        </p:txBody>
      </p:sp>
      <p:sp>
        <p:nvSpPr>
          <p:cNvPr id="4" name="s18-t1"/>
          <p:cNvSpPr txBox="1"/>
          <p:nvPr/>
        </p:nvSpPr>
        <p:spPr>
          <a:xfrm>
            <a:off x="1943100" y="3365541"/>
            <a:ext cx="304770" cy="330190"/>
          </a:xfrm>
          <a:prstGeom prst="roundRect">
            <a:avLst>
              <a:gd name="adj" fmla="val 6241"/>
            </a:avLst>
          </a:prstGeom>
          <a:solidFill>
            <a:schemeClr val="accent6"/>
          </a:solidFill>
          <a:ln w="6350">
            <a:solidFill>
              <a:schemeClr val="accent1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is</a:t>
            </a:r>
            <a:endParaRPr lang="en-US" sz="1200" dirty="0"/>
          </a:p>
        </p:txBody>
      </p:sp>
      <p:sp>
        <p:nvSpPr>
          <p:cNvPr id="5" name="s18-t2"/>
          <p:cNvSpPr txBox="1"/>
          <p:nvPr/>
        </p:nvSpPr>
        <p:spPr>
          <a:xfrm>
            <a:off x="2298710" y="3365541"/>
            <a:ext cx="304770" cy="330190"/>
          </a:xfrm>
          <a:prstGeom prst="roundRect">
            <a:avLst>
              <a:gd name="adj" fmla="val 6241"/>
            </a:avLst>
          </a:prstGeom>
          <a:solidFill>
            <a:schemeClr val="accent6"/>
          </a:solidFill>
          <a:ln w="6350">
            <a:solidFill>
              <a:schemeClr val="accent1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in</a:t>
            </a:r>
            <a:endParaRPr lang="en-US" sz="1200" dirty="0"/>
          </a:p>
        </p:txBody>
      </p:sp>
      <p:sp>
        <p:nvSpPr>
          <p:cNvPr id="6" name="s18-t3"/>
          <p:cNvSpPr txBox="1"/>
          <p:nvPr/>
        </p:nvSpPr>
        <p:spPr>
          <a:xfrm>
            <a:off x="2654320" y="3365541"/>
            <a:ext cx="749259" cy="330190"/>
          </a:xfrm>
          <a:prstGeom prst="roundRect">
            <a:avLst>
              <a:gd name="adj" fmla="val 5760"/>
            </a:avLst>
          </a:prstGeom>
          <a:solidFill>
            <a:schemeClr val="accent6"/>
          </a:solidFill>
          <a:ln w="6350">
            <a:solidFill>
              <a:schemeClr val="accent1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Ontario</a:t>
            </a:r>
            <a:endParaRPr lang="en-US" sz="1200" dirty="0"/>
          </a:p>
        </p:txBody>
      </p:sp>
      <p:sp>
        <p:nvSpPr>
          <p:cNvPr id="7" name="s18-t4"/>
          <p:cNvSpPr txBox="1"/>
          <p:nvPr/>
        </p:nvSpPr>
        <p:spPr>
          <a:xfrm>
            <a:off x="3454420" y="3365541"/>
            <a:ext cx="215890" cy="330190"/>
          </a:xfrm>
          <a:prstGeom prst="roundRect">
            <a:avLst>
              <a:gd name="adj" fmla="val 8810"/>
            </a:avLst>
          </a:prstGeom>
          <a:solidFill>
            <a:schemeClr val="accent6"/>
          </a:solidFill>
          <a:ln w="6350">
            <a:solidFill>
              <a:schemeClr val="accent1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,</a:t>
            </a:r>
            <a:endParaRPr lang="en-US" sz="1200" dirty="0"/>
          </a:p>
        </p:txBody>
      </p:sp>
      <p:sp>
        <p:nvSpPr>
          <p:cNvPr id="8" name="s18-t5"/>
          <p:cNvSpPr txBox="1"/>
          <p:nvPr/>
        </p:nvSpPr>
        <p:spPr>
          <a:xfrm>
            <a:off x="3721059" y="3365541"/>
            <a:ext cx="660380" cy="330190"/>
          </a:xfrm>
          <a:prstGeom prst="roundRect">
            <a:avLst>
              <a:gd name="adj" fmla="val 5760"/>
            </a:avLst>
          </a:prstGeom>
          <a:solidFill>
            <a:schemeClr val="accent6"/>
          </a:solidFill>
          <a:ln w="6350">
            <a:solidFill>
              <a:schemeClr val="accent1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Canada</a:t>
            </a:r>
            <a:endParaRPr lang="en-US" sz="1200" dirty="0"/>
          </a:p>
        </p:txBody>
      </p:sp>
      <p:sp>
        <p:nvSpPr>
          <p:cNvPr id="9" name="s18-t6"/>
          <p:cNvSpPr txBox="1"/>
          <p:nvPr/>
        </p:nvSpPr>
        <p:spPr>
          <a:xfrm>
            <a:off x="4432280" y="3365541"/>
            <a:ext cx="215890" cy="330190"/>
          </a:xfrm>
          <a:prstGeom prst="roundRect">
            <a:avLst>
              <a:gd name="adj" fmla="val 8810"/>
            </a:avLst>
          </a:prstGeom>
          <a:solidFill>
            <a:schemeClr val="accent6"/>
          </a:solidFill>
          <a:ln w="6350">
            <a:solidFill>
              <a:schemeClr val="accent1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18-gate"/>
          <p:cNvSpPr/>
          <p:nvPr/>
        </p:nvSpPr>
        <p:spPr>
          <a:xfrm>
            <a:off x="4673590" y="3149559"/>
            <a:ext cx="0" cy="76197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1" name="s18-stop"/>
          <p:cNvSpPr txBox="1"/>
          <p:nvPr/>
        </p:nvSpPr>
        <p:spPr>
          <a:xfrm>
            <a:off x="4292559" y="2971800"/>
            <a:ext cx="7619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STOP</a:t>
            </a:r>
            <a:endParaRPr lang="en-US" sz="1000" dirty="0"/>
          </a:p>
        </p:txBody>
      </p:sp>
      <p:sp>
        <p:nvSpPr>
          <p:cNvPr id="12" name="s18-t7"/>
          <p:cNvSpPr txBox="1"/>
          <p:nvPr/>
        </p:nvSpPr>
        <p:spPr>
          <a:xfrm>
            <a:off x="4699010" y="3365541"/>
            <a:ext cx="304770" cy="330190"/>
          </a:xfrm>
          <a:prstGeom prst="roundRect">
            <a:avLst>
              <a:gd name="adj" fmla="val 6241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In</a:t>
            </a:r>
            <a:endParaRPr lang="en-US" sz="1200" dirty="0"/>
          </a:p>
        </p:txBody>
      </p:sp>
      <p:sp>
        <p:nvSpPr>
          <p:cNvPr id="13" name="s18-t8"/>
          <p:cNvSpPr txBox="1"/>
          <p:nvPr/>
        </p:nvSpPr>
        <p:spPr>
          <a:xfrm>
            <a:off x="5054620" y="3365541"/>
            <a:ext cx="749259" cy="330190"/>
          </a:xfrm>
          <a:prstGeom prst="roundRect">
            <a:avLst>
              <a:gd name="adj" fmla="val 5760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summary</a:t>
            </a:r>
            <a:endParaRPr lang="en-US" sz="1200" dirty="0"/>
          </a:p>
        </p:txBody>
      </p:sp>
      <p:sp>
        <p:nvSpPr>
          <p:cNvPr id="14" name="s18-t9"/>
          <p:cNvSpPr txBox="1"/>
          <p:nvPr/>
        </p:nvSpPr>
        <p:spPr>
          <a:xfrm>
            <a:off x="5854720" y="3365541"/>
            <a:ext cx="215890" cy="330190"/>
          </a:xfrm>
          <a:prstGeom prst="roundRect">
            <a:avLst>
              <a:gd name="adj" fmla="val 8810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,</a:t>
            </a:r>
            <a:endParaRPr lang="en-US" sz="1200" dirty="0"/>
          </a:p>
        </p:txBody>
      </p:sp>
      <p:sp>
        <p:nvSpPr>
          <p:cNvPr id="15" name="s18-t10"/>
          <p:cNvSpPr txBox="1"/>
          <p:nvPr/>
        </p:nvSpPr>
        <p:spPr>
          <a:xfrm>
            <a:off x="6121359" y="3365541"/>
            <a:ext cx="304770" cy="330190"/>
          </a:xfrm>
          <a:prstGeom prst="roundRect">
            <a:avLst>
              <a:gd name="adj" fmla="val 6241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as</a:t>
            </a:r>
            <a:endParaRPr lang="en-US" sz="1200" dirty="0"/>
          </a:p>
        </p:txBody>
      </p:sp>
      <p:sp>
        <p:nvSpPr>
          <p:cNvPr id="16" name="s18-t11"/>
          <p:cNvSpPr txBox="1"/>
          <p:nvPr/>
        </p:nvSpPr>
        <p:spPr>
          <a:xfrm>
            <a:off x="6476970" y="3365541"/>
            <a:ext cx="927110" cy="330190"/>
          </a:xfrm>
          <a:prstGeom prst="roundRect">
            <a:avLst>
              <a:gd name="adj" fmla="val 5760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mentioned</a:t>
            </a:r>
            <a:endParaRPr lang="en-US" sz="1200" dirty="0"/>
          </a:p>
        </p:txBody>
      </p:sp>
      <p:sp>
        <p:nvSpPr>
          <p:cNvPr id="17" name="s18-t12"/>
          <p:cNvSpPr txBox="1"/>
          <p:nvPr/>
        </p:nvSpPr>
        <p:spPr>
          <a:xfrm>
            <a:off x="7454920" y="3365541"/>
            <a:ext cx="215890" cy="330190"/>
          </a:xfrm>
          <a:prstGeom prst="roundRect">
            <a:avLst>
              <a:gd name="adj" fmla="val 8810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,</a:t>
            </a:r>
            <a:endParaRPr lang="en-US" sz="1200" dirty="0"/>
          </a:p>
        </p:txBody>
      </p:sp>
      <p:sp>
        <p:nvSpPr>
          <p:cNvPr id="18" name="s18-t13"/>
          <p:cNvSpPr txBox="1"/>
          <p:nvPr/>
        </p:nvSpPr>
        <p:spPr>
          <a:xfrm>
            <a:off x="7721559" y="3365541"/>
            <a:ext cx="838230" cy="330190"/>
          </a:xfrm>
          <a:prstGeom prst="roundRect">
            <a:avLst>
              <a:gd name="adj" fmla="val 5760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Kingston</a:t>
            </a:r>
            <a:endParaRPr lang="en-US" sz="1200" dirty="0"/>
          </a:p>
        </p:txBody>
      </p:sp>
      <p:sp>
        <p:nvSpPr>
          <p:cNvPr id="19" name="s18-t14"/>
          <p:cNvSpPr txBox="1"/>
          <p:nvPr/>
        </p:nvSpPr>
        <p:spPr>
          <a:xfrm>
            <a:off x="8610630" y="3365541"/>
            <a:ext cx="304770" cy="330190"/>
          </a:xfrm>
          <a:prstGeom prst="roundRect">
            <a:avLst>
              <a:gd name="adj" fmla="val 6241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is</a:t>
            </a:r>
            <a:endParaRPr lang="en-US" sz="1200" dirty="0"/>
          </a:p>
        </p:txBody>
      </p:sp>
      <p:sp>
        <p:nvSpPr>
          <p:cNvPr id="20" name="s18-t15"/>
          <p:cNvSpPr txBox="1"/>
          <p:nvPr/>
        </p:nvSpPr>
        <p:spPr>
          <a:xfrm>
            <a:off x="8966241" y="3365541"/>
            <a:ext cx="749259" cy="330190"/>
          </a:xfrm>
          <a:prstGeom prst="roundRect">
            <a:avLst>
              <a:gd name="adj" fmla="val 5760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located</a:t>
            </a:r>
            <a:endParaRPr lang="en-US" sz="1200" dirty="0"/>
          </a:p>
        </p:txBody>
      </p:sp>
      <p:sp>
        <p:nvSpPr>
          <p:cNvPr id="21" name="s18-t16"/>
          <p:cNvSpPr txBox="1"/>
          <p:nvPr/>
        </p:nvSpPr>
        <p:spPr>
          <a:xfrm>
            <a:off x="9766341" y="3365541"/>
            <a:ext cx="304770" cy="330190"/>
          </a:xfrm>
          <a:prstGeom prst="roundRect">
            <a:avLst>
              <a:gd name="adj" fmla="val 6241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in</a:t>
            </a:r>
            <a:endParaRPr lang="en-US" sz="1200" dirty="0"/>
          </a:p>
        </p:txBody>
      </p:sp>
      <p:sp>
        <p:nvSpPr>
          <p:cNvPr id="22" name="s18-t17"/>
          <p:cNvSpPr txBox="1"/>
          <p:nvPr/>
        </p:nvSpPr>
        <p:spPr>
          <a:xfrm>
            <a:off x="10121859" y="3365541"/>
            <a:ext cx="749259" cy="330190"/>
          </a:xfrm>
          <a:prstGeom prst="roundRect">
            <a:avLst>
              <a:gd name="adj" fmla="val 5760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Ontario</a:t>
            </a:r>
            <a:endParaRPr lang="en-US" sz="1200" dirty="0"/>
          </a:p>
        </p:txBody>
      </p:sp>
      <p:sp>
        <p:nvSpPr>
          <p:cNvPr id="23" name="s18-t18"/>
          <p:cNvSpPr txBox="1"/>
          <p:nvPr/>
        </p:nvSpPr>
        <p:spPr>
          <a:xfrm>
            <a:off x="10921959" y="3365541"/>
            <a:ext cx="215890" cy="330190"/>
          </a:xfrm>
          <a:prstGeom prst="roundRect">
            <a:avLst>
              <a:gd name="adj" fmla="val 8810"/>
            </a:avLst>
          </a:prstGeom>
          <a:solidFill>
            <a:schemeClr val="accent6"/>
          </a:solidFill>
          <a:ln w="6350">
            <a:solidFill>
              <a:schemeClr val="bg1">
                <a:alpha val="12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s18-method"/>
          <p:cNvSpPr txBox="1"/>
          <p:nvPr/>
        </p:nvSpPr>
        <p:spPr>
          <a:xfrm>
            <a:off x="1651041" y="4317980"/>
            <a:ext cx="8889980" cy="30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2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Training-free. Measured for meaning, latency and energy.</a:t>
            </a:r>
            <a:endParaRPr lang="en-US" sz="1700" dirty="0"/>
          </a:p>
        </p:txBody>
      </p:sp>
      <p:sp>
        <p:nvSpPr>
          <p:cNvPr id="25" name="s18-team"/>
          <p:cNvSpPr txBox="1"/>
          <p:nvPr/>
        </p:nvSpPr>
        <p:spPr>
          <a:xfrm>
            <a:off x="2920959" y="4648170"/>
            <a:ext cx="6349959" cy="30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He led a four-student team.</a:t>
            </a:r>
            <a:endParaRPr lang="en-US" sz="1700" dirty="0"/>
          </a:p>
        </p:txBody>
      </p:sp>
    </p:spTree>
  </p:cSld>
  <p:clrMapOvr>
    <a:masterClrMapping/>
  </p:clrMapOvr>
  <p:transition spd="slow" advTm="3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9" presetClass="emph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86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fill="hold" grpId="1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8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89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mph" presetSubtype="0" fill="hold" grpId="1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9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92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9" presetClass="emph" presetSubtype="0" fill="hold" grpId="1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99" dur="6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mph" presetSubtype="0" fill="hold" grpId="1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101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102" dur="6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mph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105" dur="6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mph" presetSubtype="0" fill="hold" grpId="1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0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108" dur="6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mph" presetSubtype="0" fill="hold" grpId="1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1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111" dur="6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mph" presetSubtype="0" fill="hold" grpId="1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1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114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mph" presetSubtype="0" fill="hold" grpId="1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16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117" dur="6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mph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1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120" dur="6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mph" presetSubtype="0" fill="hold" grpId="1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22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5"/>
                                      </p:to>
                                    </p:set>
                                    <p:animEffect filter="image" prLst="opacity: 0.15">
                                      <p:cBhvr rctx="IE">
                                        <p:cTn id="123" dur="6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12" grpId="1" animBg="1"/>
      <p:bldP spid="13" grpId="1" animBg="1"/>
      <p:bldP spid="14" grpId="1" animBg="1"/>
      <p:bldP spid="24" grpId="0" animBg="1"/>
      <p:bldP spid="15" grpId="1" animBg="1"/>
      <p:bldP spid="16" grpId="1" animBg="1"/>
      <p:bldP spid="17" grpId="1" animBg="1"/>
      <p:bldP spid="18" grpId="1" animBg="1"/>
      <p:bldP spid="19" grpId="1" animBg="1"/>
      <p:bldP spid="20" grpId="1" animBg="1"/>
      <p:bldP spid="21" grpId="1" animBg="1"/>
      <p:bldP spid="22" grpId="1" animBg="1"/>
      <p:bldP spid="23" grpId="1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19-vision" descr="D:\Projects Until 2024\my website\v2\MahmoudAlyosifySite.github.io\intro-video\deck\assets\vision.jpg">    </p:cNvPr>
          <p:cNvPicPr>
            <a:picLocks noChangeAspect="1"/>
          </p:cNvPicPr>
          <p:nvPr/>
        </p:nvPicPr>
        <p:blipFill>
          <a:blip r:embed="rId1"/>
          <a:srcRect l="0" t="0" r="50" b="0"/>
          <a:stretch>
            <a:fillRect/>
          </a:stretch>
        </p:blipFill>
        <p:spPr>
          <a:xfrm>
            <a:off x="7492959" y="1270010"/>
            <a:ext cx="3556010" cy="408938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60000"/>
              </a:srgbClr>
            </a:outerShdw>
          </a:effectLst>
        </p:spPr>
      </p:pic>
      <p:sp>
        <p:nvSpPr>
          <p:cNvPr id="4" name="s19-quote"/>
          <p:cNvSpPr txBox="1"/>
          <p:nvPr/>
        </p:nvSpPr>
        <p:spPr>
          <a:xfrm>
            <a:off x="1015990" y="2413010"/>
            <a:ext cx="5715000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“As for the future,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your task is not to foresee it,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chemeClr val="bg1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but to enable it.”</a:t>
            </a:r>
            <a:endParaRPr lang="en-US" sz="2400" dirty="0"/>
          </a:p>
        </p:txBody>
      </p:sp>
      <p:pic>
        <p:nvPicPr>
          <p:cNvPr id="5" name="s19-mark" descr="D:\Projects Until 2024\my website\v2\MahmoudAlyosifySite.github.io\intro-video\deck\assets\mar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802" y="3275106"/>
            <a:ext cx="1154156" cy="128016"/>
          </a:xfrm>
          <a:prstGeom prst="rect">
            <a:avLst/>
          </a:prstGeom>
        </p:spPr>
      </p:pic>
      <p:sp>
        <p:nvSpPr>
          <p:cNvPr id="6" name="s19-author"/>
          <p:cNvSpPr txBox="1"/>
          <p:nvPr/>
        </p:nvSpPr>
        <p:spPr>
          <a:xfrm>
            <a:off x="1015990" y="374648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— ANTOINE DE SAINT-EXUPÉRY</a:t>
            </a:r>
            <a:endParaRPr lang="en-US" sz="1100" dirty="0"/>
          </a:p>
        </p:txBody>
      </p:sp>
    </p:spTree>
  </p:cSld>
  <p:clrMapOvr>
    <a:masterClrMapping/>
  </p:clrMapOvr>
  <p:transition spd="slow" advTm="35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20-heritage" descr="D:\Projects Until 2024\my website\v2\MahmoudAlyosifySite.github.io\intro-video\deck\assets\heritage.jpg">    </p:cNvPr>
          <p:cNvPicPr>
            <a:picLocks noChangeAspect="1"/>
          </p:cNvPicPr>
          <p:nvPr/>
        </p:nvPicPr>
        <p:blipFill>
          <a:blip r:embed="rId1"/>
          <a:srcRect l="13931" t="0" r="18608" b="28571"/>
          <a:stretch>
            <a:fillRect/>
          </a:stretch>
        </p:blipFill>
        <p:spPr>
          <a:xfrm>
            <a:off x="5715000" y="0"/>
            <a:ext cx="6476970" cy="6858000"/>
          </a:xfrm>
          <a:prstGeom prst="rect">
            <a:avLst/>
          </a:prstGeom>
        </p:spPr>
      </p:pic>
      <p:pic>
        <p:nvPicPr>
          <p:cNvPr id="4" name="s20-edge" descr="D:\Projects Until 2024\my website\v2\MahmoudAlyosifySite.github.io\intro-video\deck\assets\grad-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0"/>
            <a:ext cx="2031980" cy="6858000"/>
          </a:xfrm>
          <a:prstGeom prst="rect">
            <a:avLst/>
          </a:prstGeom>
        </p:spPr>
      </p:pic>
      <p:sp>
        <p:nvSpPr>
          <p:cNvPr id="5" name="s20-learns"/>
          <p:cNvSpPr txBox="1"/>
          <p:nvPr/>
        </p:nvSpPr>
        <p:spPr>
          <a:xfrm>
            <a:off x="1015990" y="2349459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He learns.</a:t>
            </a:r>
            <a:endParaRPr lang="en-US" sz="3600" dirty="0"/>
          </a:p>
        </p:txBody>
      </p:sp>
      <p:sp>
        <p:nvSpPr>
          <p:cNvPr id="6" name="s20-builds"/>
          <p:cNvSpPr txBox="1"/>
          <p:nvPr/>
        </p:nvSpPr>
        <p:spPr>
          <a:xfrm>
            <a:off x="1015990" y="2920959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He builds.</a:t>
            </a:r>
            <a:endParaRPr lang="en-US" sz="3600" dirty="0"/>
          </a:p>
        </p:txBody>
      </p:sp>
      <p:sp>
        <p:nvSpPr>
          <p:cNvPr id="7" name="s20-teaches"/>
          <p:cNvSpPr txBox="1"/>
          <p:nvPr/>
        </p:nvSpPr>
        <p:spPr>
          <a:xfrm>
            <a:off x="1015990" y="3492459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He teaches.</a:t>
            </a:r>
            <a:endParaRPr lang="en-US" sz="3600" dirty="0"/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21-backglow" descr="D:\Projects Until 2024\my website\v2\MahmoudAlyosifySite.github.io\intro-video\deck\assets\back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970" y="0"/>
            <a:ext cx="7112020" cy="7112020"/>
          </a:xfrm>
          <a:prstGeom prst="rect">
            <a:avLst/>
          </a:prstGeom>
        </p:spPr>
      </p:pic>
      <p:pic>
        <p:nvPicPr>
          <p:cNvPr id="4" name="s21-portrait" descr="D:\Projects Until 2024\my website\v2\MahmoudAlyosifySite.github.io\intro-video\deck\assets\portrait-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824" y="-399136"/>
            <a:ext cx="8164312" cy="8164312"/>
          </a:xfrm>
          <a:prstGeom prst="rect">
            <a:avLst/>
          </a:prstGeom>
        </p:spPr>
      </p:pic>
      <p:sp>
        <p:nvSpPr>
          <p:cNvPr id="5" name="s21-give"/>
          <p:cNvSpPr txBox="1"/>
          <p:nvPr/>
        </p:nvSpPr>
        <p:spPr>
          <a:xfrm>
            <a:off x="1015990" y="2794041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Let’s give intelligence</a:t>
            </a:r>
            <a:endParaRPr lang="en-US" sz="3600" dirty="0"/>
          </a:p>
        </p:txBody>
      </p:sp>
      <p:sp>
        <p:nvSpPr>
          <p:cNvPr id="6" name="s21-purpose"/>
          <p:cNvSpPr txBox="1"/>
          <p:nvPr/>
        </p:nvSpPr>
        <p:spPr>
          <a:xfrm>
            <a:off x="1015990" y="3301990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 purpose.</a:t>
            </a:r>
            <a:endParaRPr lang="en-US" sz="3600" dirty="0"/>
          </a:p>
        </p:txBody>
      </p:sp>
      <p:pic>
        <p:nvPicPr>
          <p:cNvPr id="7" name="s21-mark" descr="D:\Projects Until 2024\my website\v2\MahmoudAlyosifySite.github.io\intro-video\deck\assets\mar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58" y="3585454"/>
            <a:ext cx="2271004" cy="192024"/>
          </a:xfrm>
          <a:prstGeom prst="rect">
            <a:avLst/>
          </a:prstGeom>
        </p:spPr>
      </p:pic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0" fill="hold"/>
                                        <p:tgtEl>
                                          <p:spTgt spid="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22-signature" descr="D:\Projects Until 2024\my website\v2\MahmoudAlyosifySite.github.io\intro-video\deck\assets\signature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333470" y="1911370"/>
            <a:ext cx="9525030" cy="3282147"/>
          </a:xfrm>
          <a:prstGeom prst="rect">
            <a:avLst/>
          </a:prstGeom>
        </p:spPr>
      </p:pic>
      <p:pic>
        <p:nvPicPr>
          <p:cNvPr id="4" name="s22-backglow" descr="D:\Projects Until 2024\my website\v2\MahmoudAlyosifySite.github.io\intro-video\deck\assets\back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70" y="0"/>
            <a:ext cx="7112020" cy="7112020"/>
          </a:xfrm>
          <a:prstGeom prst="rect">
            <a:avLst/>
          </a:prstGeom>
        </p:spPr>
      </p:pic>
      <p:pic>
        <p:nvPicPr>
          <p:cNvPr id="5" name="s22-portrait" descr="D:\Projects Until 2024\my website\v2\MahmoudAlyosifySite.github.io\intro-video\deck\assets\portrait-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824" y="-399136"/>
            <a:ext cx="8164312" cy="8164312"/>
          </a:xfrm>
          <a:prstGeom prst="rect">
            <a:avLst/>
          </a:prstGeom>
        </p:spPr>
      </p:pic>
      <p:pic>
        <p:nvPicPr>
          <p:cNvPr id="6" name="s22-emblem" descr="D:\Projects Until 2024\my website\v2\MahmoudAlyosifySite.github.io\intro-video\deck\assets\emble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1104870"/>
            <a:ext cx="1079541" cy="965698"/>
          </a:xfrm>
          <a:prstGeom prst="rect">
            <a:avLst/>
          </a:prstGeom>
        </p:spPr>
      </p:pic>
      <p:pic>
        <p:nvPicPr>
          <p:cNvPr id="7" name="s22-wordmark" descr="D:\Projects Until 2024\my website\v2\MahmoudAlyosifySite.github.io\intro-video\deck\assets\word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459" y="2413010"/>
            <a:ext cx="3810030" cy="887700"/>
          </a:xfrm>
          <a:prstGeom prst="rect">
            <a:avLst/>
          </a:prstGeom>
        </p:spPr>
      </p:pic>
      <p:sp>
        <p:nvSpPr>
          <p:cNvPr id="8" name="s22-rule"/>
          <p:cNvSpPr/>
          <p:nvPr/>
        </p:nvSpPr>
        <p:spPr>
          <a:xfrm>
            <a:off x="2413010" y="3460730"/>
            <a:ext cx="139702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9" name="s22-url"/>
          <p:cNvSpPr txBox="1"/>
          <p:nvPr/>
        </p:nvSpPr>
        <p:spPr>
          <a:xfrm>
            <a:off x="698510" y="3670310"/>
            <a:ext cx="4826020" cy="24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mahmoudalyosifysite.github.io</a:t>
            </a:r>
            <a:endParaRPr lang="en-US" sz="1400" dirty="0"/>
          </a:p>
        </p:txBody>
      </p:sp>
      <p:sp>
        <p:nvSpPr>
          <p:cNvPr id="10" name="s22-mail"/>
          <p:cNvSpPr txBox="1"/>
          <p:nvPr/>
        </p:nvSpPr>
        <p:spPr>
          <a:xfrm>
            <a:off x="698510" y="4038630"/>
            <a:ext cx="482602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mahmoud.alyosify@gmail.com</a:t>
            </a:r>
            <a:endParaRPr lang="en-US" sz="1200" dirty="0"/>
          </a:p>
        </p:txBody>
      </p:sp>
      <p:sp>
        <p:nvSpPr>
          <p:cNvPr id="11" name="s22-li"/>
          <p:cNvSpPr txBox="1"/>
          <p:nvPr/>
        </p:nvSpPr>
        <p:spPr>
          <a:xfrm>
            <a:off x="698510" y="4292559"/>
            <a:ext cx="482602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linkedin.com/in/mahmoudalyosify</a:t>
            </a:r>
            <a:endParaRPr lang="en-US" sz="1200" dirty="0"/>
          </a:p>
        </p:txBody>
      </p:sp>
      <p:pic>
        <p:nvPicPr>
          <p:cNvPr id="12" name="s22-mascot" descr="D:\Projects Until 2024\my website\v2\MahmoudAlyosifySite.github.io\intro-video\deck\assets\masc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7070" y="5143500"/>
            <a:ext cx="592623" cy="888980"/>
          </a:xfrm>
          <a:prstGeom prst="rect">
            <a:avLst/>
          </a:prstGeom>
        </p:spPr>
      </p:pic>
      <p:sp>
        <p:nvSpPr>
          <p:cNvPr id="13" name="s22-ask"/>
          <p:cNvSpPr txBox="1"/>
          <p:nvPr/>
        </p:nvSpPr>
        <p:spPr>
          <a:xfrm>
            <a:off x="2476470" y="5499110"/>
            <a:ext cx="3810030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3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Ask Mahmoud AI on the site.</a:t>
            </a:r>
            <a:endParaRPr lang="en-US" sz="1300" dirty="0"/>
          </a:p>
        </p:txBody>
      </p:sp>
    </p:spTree>
  </p:cSld>
  <p:clrMapOvr>
    <a:masterClrMapping/>
  </p:clrMapOvr>
  <p:transition spd="slow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23-hair"/>
          <p:cNvSpPr/>
          <p:nvPr/>
        </p:nvSpPr>
        <p:spPr>
          <a:xfrm>
            <a:off x="4762470" y="4826020"/>
            <a:ext cx="2667030" cy="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solid"/>
          </a:ln>
        </p:spPr>
      </p:sp>
      <p:pic>
        <p:nvPicPr>
          <p:cNvPr id="4" name="s23-emblem" descr="D:\Projects Until 2024\my website\v2\MahmoudAlyosifySite.github.io\intro-video\deck\assets\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470" y="2108241"/>
            <a:ext cx="2667030" cy="2387590"/>
          </a:xfrm>
          <a:prstGeom prst="rect">
            <a:avLst/>
          </a:prstGeom>
        </p:spPr>
      </p:pic>
    </p:spTree>
  </p:cSld>
  <p:clrMapOvr>
    <a:masterClrMapping/>
  </p:clrMapOvr>
  <p:transition spd="slow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24-backglow" descr="D:\Projects Until 2024\my website\v2\MahmoudAlyosifySite.github.io\intro-video\deck\assets\back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970" y="0"/>
            <a:ext cx="7112020" cy="7112020"/>
          </a:xfrm>
          <a:prstGeom prst="rect">
            <a:avLst/>
          </a:prstGeom>
        </p:spPr>
      </p:pic>
      <p:pic>
        <p:nvPicPr>
          <p:cNvPr id="4" name="s24-portrait" descr="D:\Projects Until 2024\my website\v2\MahmoudAlyosifySite.github.io\intro-video\deck\assets\portrait-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824" y="-399136"/>
            <a:ext cx="8164312" cy="8164312"/>
          </a:xfrm>
          <a:prstGeom prst="rect">
            <a:avLst/>
          </a:prstGeom>
        </p:spPr>
      </p:pic>
      <p:pic>
        <p:nvPicPr>
          <p:cNvPr id="5" name="s24-wordmark" descr="D:\Projects Until 2024\my website\v2\MahmoudAlyosifySite.github.io\intro-video\deck\assets\wor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0" y="2540020"/>
            <a:ext cx="4190970" cy="976488"/>
          </a:xfrm>
          <a:prstGeom prst="rect">
            <a:avLst/>
          </a:prstGeom>
        </p:spPr>
      </p:pic>
      <p:sp>
        <p:nvSpPr>
          <p:cNvPr id="6" name="s24-roles"/>
          <p:cNvSpPr txBox="1"/>
          <p:nvPr/>
        </p:nvSpPr>
        <p:spPr>
          <a:xfrm>
            <a:off x="1015990" y="3797320"/>
            <a:ext cx="6985010" cy="19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10" kern="0" dirty="0">
                <a:solidFill>
                  <a:schemeClr val="accent2"/>
                </a:solidFill>
                <a:latin typeface="Chivo Mono Medium" pitchFamily="34" charset="0"/>
                <a:ea typeface="Chivo Mono Medium" pitchFamily="34" charset="-122"/>
                <a:cs typeface="Chivo Mono Medium" pitchFamily="34" charset="-120"/>
              </a:rPr>
              <a:t>AI ENGINEER · RESEARCHER · EDUCATOR</a:t>
            </a:r>
            <a:endParaRPr lang="en-US" sz="1100" dirty="0"/>
          </a:p>
        </p:txBody>
      </p:sp>
      <p:sp>
        <p:nvSpPr>
          <p:cNvPr id="7" name="s24-rule"/>
          <p:cNvSpPr/>
          <p:nvPr/>
        </p:nvSpPr>
        <p:spPr>
          <a:xfrm>
            <a:off x="1015990" y="4063959"/>
            <a:ext cx="152403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8" name="s24-alias"/>
          <p:cNvSpPr txBox="1"/>
          <p:nvPr/>
        </p:nvSpPr>
        <p:spPr>
          <a:xfrm>
            <a:off x="1015990" y="4190970"/>
            <a:ext cx="57150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3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also known as Mahmoud Sayed Youssef</a:t>
            </a:r>
            <a:endParaRPr lang="en-US" sz="1500" dirty="0"/>
          </a:p>
        </p:txBody>
      </p:sp>
    </p:spTree>
  </p:cSld>
  <p:clrMapOvr>
    <a:masterClrMapping/>
  </p:clrMapOvr>
  <p:transition spd="slow" advTm="6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25-learns"/>
          <p:cNvSpPr txBox="1"/>
          <p:nvPr/>
        </p:nvSpPr>
        <p:spPr>
          <a:xfrm>
            <a:off x="3238530" y="2540020"/>
            <a:ext cx="5715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He learns.</a:t>
            </a:r>
            <a:endParaRPr lang="en-US" sz="3600" dirty="0"/>
          </a:p>
        </p:txBody>
      </p:sp>
      <p:sp>
        <p:nvSpPr>
          <p:cNvPr id="4" name="s25-builds"/>
          <p:cNvSpPr txBox="1"/>
          <p:nvPr/>
        </p:nvSpPr>
        <p:spPr>
          <a:xfrm>
            <a:off x="3238530" y="3111520"/>
            <a:ext cx="5715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He builds.</a:t>
            </a:r>
            <a:endParaRPr lang="en-US" sz="3600" dirty="0"/>
          </a:p>
        </p:txBody>
      </p:sp>
      <p:sp>
        <p:nvSpPr>
          <p:cNvPr id="5" name="s25-teaches"/>
          <p:cNvSpPr txBox="1"/>
          <p:nvPr/>
        </p:nvSpPr>
        <p:spPr>
          <a:xfrm>
            <a:off x="3238530" y="3683020"/>
            <a:ext cx="5715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He teaches.</a:t>
            </a:r>
            <a:endParaRPr lang="en-US" sz="3600" dirty="0"/>
          </a:p>
        </p:txBody>
      </p:sp>
    </p:spTree>
  </p:cSld>
  <p:clrMapOvr>
    <a:masterClrMapping/>
  </p:clrMapOvr>
  <p:transition spd="slow" advTm="6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26-backglow" descr="D:\Projects Until 2024\my website\v2\MahmoudAlyosifySite.github.io\intro-video\deck\assets\back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970" y="0"/>
            <a:ext cx="7112020" cy="7112020"/>
          </a:xfrm>
          <a:prstGeom prst="rect">
            <a:avLst/>
          </a:prstGeom>
        </p:spPr>
      </p:pic>
      <p:pic>
        <p:nvPicPr>
          <p:cNvPr id="4" name="s26-portrait" descr="D:\Projects Until 2024\my website\v2\MahmoudAlyosifySite.github.io\intro-video\deck\assets\portrait-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824" y="-399136"/>
            <a:ext cx="8164312" cy="8164312"/>
          </a:xfrm>
          <a:prstGeom prst="rect">
            <a:avLst/>
          </a:prstGeom>
        </p:spPr>
      </p:pic>
      <p:sp>
        <p:nvSpPr>
          <p:cNvPr id="5" name="s26-give"/>
          <p:cNvSpPr txBox="1"/>
          <p:nvPr/>
        </p:nvSpPr>
        <p:spPr>
          <a:xfrm>
            <a:off x="1015990" y="2794041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Let’s give intelligence</a:t>
            </a:r>
            <a:endParaRPr lang="en-US" sz="3600" dirty="0"/>
          </a:p>
        </p:txBody>
      </p:sp>
      <p:sp>
        <p:nvSpPr>
          <p:cNvPr id="6" name="s26-purpose"/>
          <p:cNvSpPr txBox="1"/>
          <p:nvPr/>
        </p:nvSpPr>
        <p:spPr>
          <a:xfrm>
            <a:off x="1015990" y="3301990"/>
            <a:ext cx="8889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 purpose.</a:t>
            </a:r>
            <a:endParaRPr lang="en-US" sz="3600" dirty="0"/>
          </a:p>
        </p:txBody>
      </p:sp>
      <p:pic>
        <p:nvPicPr>
          <p:cNvPr id="7" name="s26-mark" descr="D:\Projects Until 2024\my website\v2\MahmoudAlyosifySite.github.io\intro-video\deck\assets\mar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58" y="3585454"/>
            <a:ext cx="2271004" cy="192024"/>
          </a:xfrm>
          <a:prstGeom prst="rect">
            <a:avLst/>
          </a:prstGeom>
        </p:spPr>
      </p:pic>
    </p:spTree>
  </p:cSld>
  <p:clrMapOvr>
    <a:masterClrMapping/>
  </p:clrMapOvr>
  <p:transition spd="slow" advTm="3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0" fill="hold"/>
                                        <p:tgtEl>
                                          <p:spTgt spid="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27-signature" descr="D:\Projects Until 2024\my website\v2\MahmoudAlyosifySite.github.io\intro-video\deck\assets\signature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333470" y="1911370"/>
            <a:ext cx="9525030" cy="3282147"/>
          </a:xfrm>
          <a:prstGeom prst="rect">
            <a:avLst/>
          </a:prstGeom>
        </p:spPr>
      </p:pic>
      <p:pic>
        <p:nvPicPr>
          <p:cNvPr id="4" name="s27-backglow" descr="D:\Projects Until 2024\my website\v2\MahmoudAlyosifySite.github.io\intro-video\deck\assets\back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70" y="0"/>
            <a:ext cx="7112020" cy="7112020"/>
          </a:xfrm>
          <a:prstGeom prst="rect">
            <a:avLst/>
          </a:prstGeom>
        </p:spPr>
      </p:pic>
      <p:pic>
        <p:nvPicPr>
          <p:cNvPr id="5" name="s27-portrait" descr="D:\Projects Until 2024\my website\v2\MahmoudAlyosifySite.github.io\intro-video\deck\assets\portrait-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824" y="-399136"/>
            <a:ext cx="8164312" cy="8164312"/>
          </a:xfrm>
          <a:prstGeom prst="rect">
            <a:avLst/>
          </a:prstGeom>
        </p:spPr>
      </p:pic>
      <p:pic>
        <p:nvPicPr>
          <p:cNvPr id="6" name="s27-emblem" descr="D:\Projects Until 2024\my website\v2\MahmoudAlyosifySite.github.io\intro-video\deck\assets\emble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1104870"/>
            <a:ext cx="1079541" cy="965698"/>
          </a:xfrm>
          <a:prstGeom prst="rect">
            <a:avLst/>
          </a:prstGeom>
        </p:spPr>
      </p:pic>
      <p:pic>
        <p:nvPicPr>
          <p:cNvPr id="7" name="s27-wordmark" descr="D:\Projects Until 2024\my website\v2\MahmoudAlyosifySite.github.io\intro-video\deck\assets\word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459" y="2413010"/>
            <a:ext cx="3810030" cy="887700"/>
          </a:xfrm>
          <a:prstGeom prst="rect">
            <a:avLst/>
          </a:prstGeom>
        </p:spPr>
      </p:pic>
      <p:sp>
        <p:nvSpPr>
          <p:cNvPr id="8" name="s27-rule"/>
          <p:cNvSpPr/>
          <p:nvPr/>
        </p:nvSpPr>
        <p:spPr>
          <a:xfrm>
            <a:off x="2413010" y="3460730"/>
            <a:ext cx="139702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9" name="s27-url"/>
          <p:cNvSpPr txBox="1"/>
          <p:nvPr/>
        </p:nvSpPr>
        <p:spPr>
          <a:xfrm>
            <a:off x="698510" y="3670310"/>
            <a:ext cx="4826020" cy="24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chemeClr val="accent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mahmoudalyosifysite.github.io</a:t>
            </a:r>
            <a:endParaRPr lang="en-US" sz="1400" dirty="0"/>
          </a:p>
        </p:txBody>
      </p:sp>
      <p:sp>
        <p:nvSpPr>
          <p:cNvPr id="10" name="s27-mail"/>
          <p:cNvSpPr txBox="1"/>
          <p:nvPr/>
        </p:nvSpPr>
        <p:spPr>
          <a:xfrm>
            <a:off x="698510" y="4038630"/>
            <a:ext cx="482602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mahmoud.alyosify@gmail.com</a:t>
            </a:r>
            <a:endParaRPr lang="en-US" sz="1200" dirty="0"/>
          </a:p>
        </p:txBody>
      </p:sp>
      <p:sp>
        <p:nvSpPr>
          <p:cNvPr id="11" name="s27-li"/>
          <p:cNvSpPr txBox="1"/>
          <p:nvPr/>
        </p:nvSpPr>
        <p:spPr>
          <a:xfrm>
            <a:off x="698510" y="4292559"/>
            <a:ext cx="4826020" cy="2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chemeClr val="bg2"/>
                </a:solidFill>
                <a:latin typeface="Chivo Mono" pitchFamily="34" charset="0"/>
                <a:ea typeface="Chivo Mono" pitchFamily="34" charset="-122"/>
                <a:cs typeface="Chivo Mono" pitchFamily="34" charset="-120"/>
              </a:rPr>
              <a:t>linkedin.com/in/mahmoudalyosify</a:t>
            </a:r>
            <a:endParaRPr lang="en-US" sz="1200" dirty="0"/>
          </a:p>
        </p:txBody>
      </p:sp>
    </p:spTree>
  </p:cSld>
  <p:clrMapOvr>
    <a:masterClrMapping/>
  </p:clrMapOvr>
  <p:transition spd="slow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3173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11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11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11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05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11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05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11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11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3173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384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Alyosify Black and Gold">
  <a:themeElements>
    <a:clrScheme name="Alyosify Black and Gold">
      <a:dk1>
        <a:srgbClr val="0B0B0C"/>
      </a:dk1>
      <a:lt1>
        <a:srgbClr val="EEEAE2"/>
      </a:lt1>
      <a:dk2>
        <a:srgbClr val="141416"/>
      </a:dk2>
      <a:lt2>
        <a:srgbClr val="C2BEB6"/>
      </a:lt2>
      <a:accent1>
        <a:srgbClr val="C9A55E"/>
      </a:accent1>
      <a:accent2>
        <a:srgbClr val="D6B676"/>
      </a:accent2>
      <a:accent3>
        <a:srgbClr val="908C85"/>
      </a:accent3>
      <a:accent4>
        <a:srgbClr val="F2DFA8"/>
      </a:accent4>
      <a:accent5>
        <a:srgbClr val="A9843F"/>
      </a:accent5>
      <a:accent6>
        <a:srgbClr val="111113"/>
      </a:accent6>
      <a:hlink>
        <a:srgbClr val="D6B676"/>
      </a:hlink>
      <a:folHlink>
        <a:srgbClr val="C9A55E"/>
      </a:folHlink>
    </a:clrScheme>
    <a:fontScheme name="Alyosify Black and Gold">
      <a:majorFont>
        <a:latin typeface="Gloo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sabeau Offic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Mahmoud Alyosify — Introduction</dc:title>
  <dc:subject>PptxGenJS Presentation</dc:subject>
  <dc:creator>Mahmoud Alyosify</dc:creator>
  <cp:lastModifiedBy>Mahmoud Alyosify</cp:lastModifiedBy>
  <cp:revision>1</cp:revision>
  <dcterms:created xsi:type="dcterms:W3CDTF">2026-10-18T21:22:29Z</dcterms:created>
  <dcterms:modified xsi:type="dcterms:W3CDTF">2026-10-18T21:22:29Z</dcterms:modified>
</cp:coreProperties>
</file>